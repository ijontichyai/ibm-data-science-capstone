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337082-B1CF-4D3D-8A96-BD30A394054C}" type="datetimeFigureOut">
              <a:rPr lang="es-MX" smtClean="0"/>
              <a:t>19/08/2026</a:t>
            </a:fld>
            <a:endParaRPr lang="es-MX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A7CEB8-63AB-4952-A83B-A2483E71BB97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5903680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DA7CEB8-63AB-4952-A83B-A2483E71BB97}" type="slidenum">
              <a:rPr lang="es-MX" smtClean="0"/>
              <a:t>18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7408555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" y="0"/>
            <a:ext cx="12103510" cy="6858000"/>
          </a:xfrm>
          <a:prstGeom prst="rect">
            <a:avLst/>
          </a:prstGeom>
          <a:solidFill>
            <a:srgbClr val="071426"/>
          </a:solidFill>
          <a:ln>
            <a:solidFill>
              <a:srgbClr val="0714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8138159" y="0"/>
            <a:ext cx="4005838" cy="6858000"/>
          </a:xfrm>
          <a:prstGeom prst="rect">
            <a:avLst/>
          </a:prstGeom>
          <a:solidFill>
            <a:srgbClr val="0C2038"/>
          </a:solidFill>
          <a:ln>
            <a:solidFill>
              <a:srgbClr val="0C20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9601200" y="914400"/>
            <a:ext cx="164592" cy="164592"/>
          </a:xfrm>
          <a:prstGeom prst="ellipse">
            <a:avLst/>
          </a:prstGeom>
          <a:solidFill>
            <a:srgbClr val="22D3EE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0881360" y="1508760"/>
            <a:ext cx="91440" cy="91440"/>
          </a:xfrm>
          <a:prstGeom prst="ellipse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8778240" y="2194560"/>
            <a:ext cx="118872" cy="118872"/>
          </a:xfrm>
          <a:prstGeom prst="ellipse">
            <a:avLst/>
          </a:prstGeom>
          <a:solidFill>
            <a:srgbClr val="FF6B6B"/>
          </a:solidFill>
          <a:ln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1064240" y="4389120"/>
            <a:ext cx="137160" cy="137160"/>
          </a:xfrm>
          <a:prstGeom prst="ellipse">
            <a:avLst/>
          </a:prstGeom>
          <a:solidFill>
            <a:srgbClr val="22D3EE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9144000" y="5577840"/>
            <a:ext cx="82296" cy="82296"/>
          </a:xfrm>
          <a:prstGeom prst="ellipse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8732520" y="1874519"/>
            <a:ext cx="1965960" cy="1965960"/>
          </a:xfrm>
          <a:prstGeom prst="ellipse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9162288" y="2304288"/>
            <a:ext cx="1106424" cy="1106424"/>
          </a:xfrm>
          <a:prstGeom prst="ellipse">
            <a:avLst/>
          </a:prstGeom>
          <a:solidFill>
            <a:srgbClr val="071426"/>
          </a:solidFill>
          <a:ln>
            <a:solidFill>
              <a:srgbClr val="0714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9125712" y="2798064"/>
            <a:ext cx="1170432" cy="1600200"/>
          </a:xfrm>
          <a:prstGeom prst="roundRect">
            <a:avLst/>
          </a:prstGeom>
          <a:solidFill>
            <a:srgbClr val="F8FAFC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9445752" y="3182112"/>
            <a:ext cx="548640" cy="219456"/>
          </a:xfrm>
          <a:prstGeom prst="roundRect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3" name="Connector 12"/>
          <p:cNvCxnSpPr/>
          <p:nvPr/>
        </p:nvCxnSpPr>
        <p:spPr>
          <a:xfrm flipH="1">
            <a:off x="8705088" y="4389120"/>
            <a:ext cx="347472" cy="612648"/>
          </a:xfrm>
          <a:prstGeom prst="line">
            <a:avLst/>
          </a:prstGeom>
          <a:ln w="50800">
            <a:solidFill>
              <a:srgbClr val="FF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369296" y="4389120"/>
            <a:ext cx="347472" cy="612648"/>
          </a:xfrm>
          <a:prstGeom prst="line">
            <a:avLst/>
          </a:prstGeom>
          <a:ln w="50800">
            <a:solidFill>
              <a:srgbClr val="FF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58368" y="548640"/>
            <a:ext cx="2194560" cy="27432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Aptos"/>
              </a:rPr>
              <a:t>SPACE 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1216152"/>
            <a:ext cx="7040880" cy="141732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8FAFC"/>
                </a:solidFill>
                <a:latin typeface="Aptos"/>
              </a:rPr>
              <a:t>Predicting Falcon 9</a:t>
            </a:r>
          </a:p>
          <a:p>
            <a:pPr algn="l">
              <a:lnSpc>
                <a:spcPct val="100000"/>
              </a:lnSpc>
            </a:pPr>
            <a:r>
              <a:rPr sz="3400" b="1">
                <a:solidFill>
                  <a:srgbClr val="F8FAFC"/>
                </a:solidFill>
                <a:latin typeface="Aptos"/>
              </a:rPr>
              <a:t>First-Stage Landings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871216"/>
            <a:ext cx="6492240" cy="34747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AFC2D4"/>
                </a:solidFill>
                <a:latin typeface="Aptos"/>
              </a:rPr>
              <a:t>Applied Data Science Capstone  •  Technical Report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3886200"/>
            <a:ext cx="6812280" cy="1024128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96112" y="4160520"/>
            <a:ext cx="6318461" cy="62786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dirty="0">
                <a:solidFill>
                  <a:srgbClr val="F8FAFC"/>
                </a:solidFill>
                <a:latin typeface="Aptos"/>
              </a:rPr>
              <a:t>A reproducible pipeline from API and web data to interactive</a:t>
            </a:r>
            <a:endParaRPr lang="en-US" sz="1800" b="1" dirty="0">
              <a:solidFill>
                <a:srgbClr val="F8FAFC"/>
              </a:solidFill>
              <a:latin typeface="Aptos"/>
            </a:endParaRPr>
          </a:p>
          <a:p>
            <a:pPr algn="l">
              <a:lnSpc>
                <a:spcPct val="100000"/>
              </a:lnSpc>
            </a:pPr>
            <a:r>
              <a:rPr sz="1800" b="1" dirty="0">
                <a:solidFill>
                  <a:srgbClr val="F8FAFC"/>
                </a:solidFill>
                <a:latin typeface="Aptos"/>
              </a:rPr>
              <a:t> analytics and classification.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5870448"/>
            <a:ext cx="2608150" cy="273921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es-MX" sz="1300" b="1" dirty="0">
                <a:solidFill>
                  <a:srgbClr val="F8FAFC"/>
                </a:solidFill>
                <a:latin typeface="Aptos"/>
              </a:rPr>
              <a:t>Armando Romero Mariscal Guasp</a:t>
            </a:r>
            <a:endParaRPr sz="1300" b="1" dirty="0">
              <a:solidFill>
                <a:srgbClr val="F8FAFC"/>
              </a:solidFill>
              <a:latin typeface="Aptos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58368" y="6199632"/>
            <a:ext cx="2926080" cy="22860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FC2D4"/>
                </a:solidFill>
                <a:latin typeface="Aptos"/>
              </a:rPr>
              <a:t>18 August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07004" y="5870448"/>
            <a:ext cx="4328236" cy="243143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lang="es-MX" sz="1100" b="1" dirty="0">
                <a:solidFill>
                  <a:srgbClr val="22D3EE"/>
                </a:solidFill>
                <a:latin typeface="Aptos"/>
              </a:rPr>
              <a:t>https://github.com/TurboMewCoin/IBM-Data-Science-Capstone</a:t>
            </a:r>
            <a:endParaRPr sz="1100" b="1" dirty="0">
              <a:solidFill>
                <a:srgbClr val="22D3EE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365760"/>
            <a:ext cx="438912" cy="32004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Aptos"/>
              </a:rPr>
              <a:t>02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38912" y="758952"/>
            <a:ext cx="521208" cy="0"/>
          </a:xfrm>
          <a:prstGeom prst="line">
            <a:avLst/>
          </a:prstGeom>
          <a:ln w="3175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97280" y="347472"/>
            <a:ext cx="384048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AFC2D4"/>
                </a:solidFill>
                <a:latin typeface="Aptos"/>
              </a:rPr>
              <a:t>DECISION STORY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66928"/>
            <a:ext cx="10607040" cy="56692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8FAFC"/>
                </a:solidFill>
                <a:latin typeface="Aptos"/>
              </a:rPr>
              <a:t>Executive 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234440"/>
            <a:ext cx="10789920" cy="38404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8FAFC"/>
                </a:solidFill>
                <a:latin typeface="Aptos"/>
              </a:rPr>
              <a:t>Can launch history reveal when a Falcon 9 first stage is likely to land?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874519"/>
            <a:ext cx="2331720" cy="1005840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68096" y="1984248"/>
            <a:ext cx="2112263" cy="36576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2D3EE"/>
                </a:solidFill>
                <a:latin typeface="Aptos"/>
              </a:rPr>
              <a:t>90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404872"/>
            <a:ext cx="2112263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AFC2D4"/>
                </a:solidFill>
                <a:latin typeface="Aptos"/>
              </a:rPr>
              <a:t>launch records analyzed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63824" y="1874519"/>
            <a:ext cx="2331720" cy="1005840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73552" y="1984248"/>
            <a:ext cx="2112263" cy="36576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BBF24"/>
                </a:solidFill>
                <a:latin typeface="Aptos"/>
              </a:rPr>
              <a:t>76.9%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73552" y="2404872"/>
            <a:ext cx="2112263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AFC2D4"/>
                </a:solidFill>
                <a:latin typeface="Aptos"/>
              </a:rPr>
              <a:t>KSC LC-39A success rate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0" y="1874519"/>
            <a:ext cx="2331720" cy="1005840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779008" y="1984248"/>
            <a:ext cx="2112263" cy="36576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0C997"/>
                </a:solidFill>
                <a:latin typeface="Aptos"/>
              </a:rPr>
              <a:t>84.8%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79008" y="2404872"/>
            <a:ext cx="2112263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AFC2D4"/>
                </a:solidFill>
                <a:latin typeface="Aptos"/>
              </a:rPr>
              <a:t>best cross-validation score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74736" y="1874519"/>
            <a:ext cx="2331720" cy="1005840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84463" y="1984248"/>
            <a:ext cx="2112263" cy="36576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6B6B"/>
                </a:solidFill>
                <a:latin typeface="Aptos"/>
              </a:rPr>
              <a:t>83.3%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84463" y="2404872"/>
            <a:ext cx="2112263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AFC2D4"/>
                </a:solidFill>
                <a:latin typeface="Aptos"/>
              </a:rPr>
              <a:t>verified holdout accuracy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3246120"/>
            <a:ext cx="5212080" cy="2377440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96112" y="3511296"/>
            <a:ext cx="1828800" cy="29260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2D3EE"/>
                </a:solidFill>
                <a:latin typeface="Aptos"/>
              </a:rPr>
              <a:t>What we did</a:t>
            </a:r>
          </a:p>
        </p:txBody>
      </p:sp>
      <p:sp>
        <p:nvSpPr>
          <p:cNvPr id="21" name="Oval 20"/>
          <p:cNvSpPr/>
          <p:nvPr/>
        </p:nvSpPr>
        <p:spPr>
          <a:xfrm>
            <a:off x="896112" y="4023360"/>
            <a:ext cx="100584" cy="100584"/>
          </a:xfrm>
          <a:prstGeom prst="ellipse">
            <a:avLst/>
          </a:prstGeom>
          <a:solidFill>
            <a:srgbClr val="22D3EE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97280" y="3950208"/>
            <a:ext cx="4416552" cy="45720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8FAFC"/>
                </a:solidFill>
                <a:latin typeface="Aptos"/>
              </a:rPr>
              <a:t>Collected launch data via API and web scraping</a:t>
            </a:r>
          </a:p>
        </p:txBody>
      </p:sp>
      <p:sp>
        <p:nvSpPr>
          <p:cNvPr id="23" name="Oval 22"/>
          <p:cNvSpPr/>
          <p:nvPr/>
        </p:nvSpPr>
        <p:spPr>
          <a:xfrm>
            <a:off x="896112" y="4480560"/>
            <a:ext cx="100584" cy="100584"/>
          </a:xfrm>
          <a:prstGeom prst="ellipse">
            <a:avLst/>
          </a:prstGeom>
          <a:solidFill>
            <a:srgbClr val="22D3EE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97280" y="4407408"/>
            <a:ext cx="4416552" cy="45720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8FAFC"/>
                </a:solidFill>
                <a:latin typeface="Aptos"/>
              </a:rPr>
              <a:t>Cleaned, encoded, queried, mapped, and visualized the data</a:t>
            </a:r>
          </a:p>
        </p:txBody>
      </p:sp>
      <p:sp>
        <p:nvSpPr>
          <p:cNvPr id="25" name="Oval 24"/>
          <p:cNvSpPr/>
          <p:nvPr/>
        </p:nvSpPr>
        <p:spPr>
          <a:xfrm>
            <a:off x="896112" y="4937760"/>
            <a:ext cx="100584" cy="100584"/>
          </a:xfrm>
          <a:prstGeom prst="ellipse">
            <a:avLst/>
          </a:prstGeom>
          <a:solidFill>
            <a:srgbClr val="22D3EE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97280" y="4864608"/>
            <a:ext cx="4416552" cy="45720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8FAFC"/>
                </a:solidFill>
                <a:latin typeface="Aptos"/>
              </a:rPr>
              <a:t>Tuned Logistic Regression, SVM, Decision Tree, and KNN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3246120"/>
            <a:ext cx="5623560" cy="2377440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364224" y="3511296"/>
            <a:ext cx="2194560" cy="29260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BBF24"/>
                </a:solidFill>
                <a:latin typeface="Aptos"/>
              </a:rPr>
              <a:t>What we learned</a:t>
            </a:r>
          </a:p>
        </p:txBody>
      </p:sp>
      <p:sp>
        <p:nvSpPr>
          <p:cNvPr id="29" name="Oval 28"/>
          <p:cNvSpPr/>
          <p:nvPr/>
        </p:nvSpPr>
        <p:spPr>
          <a:xfrm>
            <a:off x="6364224" y="4023360"/>
            <a:ext cx="100584" cy="100584"/>
          </a:xfrm>
          <a:prstGeom prst="ellipse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565392" y="3950208"/>
            <a:ext cx="4553712" cy="45720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8FAFC"/>
                </a:solidFill>
                <a:latin typeface="Aptos"/>
              </a:rPr>
              <a:t>Launch site, payload, orbit, and booster context matter</a:t>
            </a:r>
          </a:p>
        </p:txBody>
      </p:sp>
      <p:sp>
        <p:nvSpPr>
          <p:cNvPr id="31" name="Oval 30"/>
          <p:cNvSpPr/>
          <p:nvPr/>
        </p:nvSpPr>
        <p:spPr>
          <a:xfrm>
            <a:off x="6364224" y="4480560"/>
            <a:ext cx="100584" cy="100584"/>
          </a:xfrm>
          <a:prstGeom prst="ellipse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565392" y="4407408"/>
            <a:ext cx="4553712" cy="45720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8FAFC"/>
                </a:solidFill>
                <a:latin typeface="Aptos"/>
              </a:rPr>
              <a:t>SVM led validation; SVM and Logistic Regression tied on test data</a:t>
            </a:r>
          </a:p>
        </p:txBody>
      </p:sp>
      <p:sp>
        <p:nvSpPr>
          <p:cNvPr id="33" name="Oval 32"/>
          <p:cNvSpPr/>
          <p:nvPr/>
        </p:nvSpPr>
        <p:spPr>
          <a:xfrm>
            <a:off x="6364224" y="4937760"/>
            <a:ext cx="100584" cy="100584"/>
          </a:xfrm>
          <a:prstGeom prst="ellipse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565392" y="4864608"/>
            <a:ext cx="4553712" cy="45720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8FAFC"/>
                </a:solidFill>
                <a:latin typeface="Aptos"/>
              </a:rPr>
              <a:t>False positives—not missed landings—were the main error mode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38912" y="6492240"/>
            <a:ext cx="11311128" cy="0"/>
          </a:xfrm>
          <a:prstGeom prst="line">
            <a:avLst/>
          </a:prstGeom>
          <a:ln w="12700">
            <a:solidFill>
              <a:srgbClr val="1D39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475488" y="6519672"/>
            <a:ext cx="3657600" cy="20116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AFC2D4"/>
                </a:solidFill>
                <a:latin typeface="Aptos"/>
              </a:rPr>
              <a:t>Executive summary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06640" y="6519672"/>
            <a:ext cx="4297680" cy="20116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AFC2D4"/>
                </a:solidFill>
                <a:latin typeface="Aptos"/>
              </a:rPr>
              <a:t>IBM Applied Data Science Capstone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365760"/>
            <a:ext cx="438912" cy="32004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Aptos"/>
              </a:rPr>
              <a:t>03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38912" y="758952"/>
            <a:ext cx="521208" cy="0"/>
          </a:xfrm>
          <a:prstGeom prst="line">
            <a:avLst/>
          </a:prstGeom>
          <a:ln w="3175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97280" y="347472"/>
            <a:ext cx="384048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AFC2D4"/>
                </a:solidFill>
                <a:latin typeface="Aptos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66928"/>
            <a:ext cx="10607040" cy="56692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8FAFC"/>
                </a:solidFill>
                <a:latin typeface="Aptos"/>
              </a:rPr>
              <a:t>Business context and analytical problem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298448"/>
            <a:ext cx="3675887" cy="4526280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32688" y="1627632"/>
            <a:ext cx="2377440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Aptos"/>
              </a:rPr>
              <a:t>WHY IT MATTERS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011680"/>
            <a:ext cx="3209981" cy="1489639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dirty="0">
                <a:solidFill>
                  <a:srgbClr val="F8FAFC"/>
                </a:solidFill>
                <a:latin typeface="Aptos"/>
              </a:rPr>
              <a:t>First-stage reuse can</a:t>
            </a:r>
            <a:endParaRPr lang="en-US" sz="2300" b="1" dirty="0">
              <a:solidFill>
                <a:srgbClr val="F8FAFC"/>
              </a:solidFill>
              <a:latin typeface="Aptos"/>
            </a:endParaRPr>
          </a:p>
          <a:p>
            <a:pPr algn="l">
              <a:lnSpc>
                <a:spcPct val="100000"/>
              </a:lnSpc>
            </a:pPr>
            <a:r>
              <a:rPr sz="2300" b="1" dirty="0">
                <a:solidFill>
                  <a:srgbClr val="F8FAFC"/>
                </a:solidFill>
                <a:latin typeface="Aptos"/>
              </a:rPr>
              <a:t>reduce launch cost and</a:t>
            </a:r>
            <a:endParaRPr lang="en-US" sz="2300" b="1" dirty="0">
              <a:solidFill>
                <a:srgbClr val="F8FAFC"/>
              </a:solidFill>
              <a:latin typeface="Aptos"/>
            </a:endParaRPr>
          </a:p>
          <a:p>
            <a:pPr algn="l">
              <a:lnSpc>
                <a:spcPct val="100000"/>
              </a:lnSpc>
            </a:pPr>
            <a:r>
              <a:rPr sz="2300" b="1" dirty="0">
                <a:solidFill>
                  <a:srgbClr val="F8FAFC"/>
                </a:solidFill>
                <a:latin typeface="Aptos"/>
              </a:rPr>
              <a:t>improve mission</a:t>
            </a:r>
            <a:endParaRPr lang="en-US" sz="2300" b="1" dirty="0">
              <a:solidFill>
                <a:srgbClr val="F8FAFC"/>
              </a:solidFill>
              <a:latin typeface="Aptos"/>
            </a:endParaRPr>
          </a:p>
          <a:p>
            <a:pPr algn="l">
              <a:lnSpc>
                <a:spcPct val="100000"/>
              </a:lnSpc>
            </a:pPr>
            <a:r>
              <a:rPr sz="2300" b="1" dirty="0">
                <a:solidFill>
                  <a:srgbClr val="F8FAFC"/>
                </a:solidFill>
                <a:latin typeface="Aptos"/>
              </a:rPr>
              <a:t>economics.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796492"/>
            <a:ext cx="3209981" cy="76636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dirty="0">
                <a:solidFill>
                  <a:srgbClr val="AFC2D4"/>
                </a:solidFill>
                <a:latin typeface="Aptos"/>
              </a:rPr>
              <a:t>A reliable landing prediction helps</a:t>
            </a:r>
            <a:endParaRPr lang="en-US" sz="1500" b="0" dirty="0">
              <a:solidFill>
                <a:srgbClr val="AFC2D4"/>
              </a:solidFill>
              <a:latin typeface="Aptos"/>
            </a:endParaRPr>
          </a:p>
          <a:p>
            <a:pPr algn="l">
              <a:lnSpc>
                <a:spcPct val="100000"/>
              </a:lnSpc>
            </a:pPr>
            <a:r>
              <a:rPr sz="1500" b="0" dirty="0">
                <a:solidFill>
                  <a:srgbClr val="AFC2D4"/>
                </a:solidFill>
                <a:latin typeface="Aptos"/>
              </a:rPr>
              <a:t>planners estimate reuse potential before launch.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17720" y="1298448"/>
            <a:ext cx="6903720" cy="1901952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892040" y="1609344"/>
            <a:ext cx="2011680" cy="27432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BBF24"/>
                </a:solidFill>
                <a:latin typeface="Aptos"/>
              </a:rPr>
              <a:t>Research question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2039" y="2011680"/>
            <a:ext cx="6522887" cy="118186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dirty="0">
                <a:solidFill>
                  <a:srgbClr val="F8FAFC"/>
                </a:solidFill>
                <a:latin typeface="Aptos"/>
              </a:rPr>
              <a:t>Given launch conditions and historical outcomes, will the first stage land successfully?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17720" y="3456432"/>
            <a:ext cx="6903720" cy="2368296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4901184" y="3785615"/>
            <a:ext cx="1143000" cy="329184"/>
          </a:xfrm>
          <a:prstGeom prst="round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965192" y="3822191"/>
            <a:ext cx="1014983" cy="219456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dirty="0">
                <a:solidFill>
                  <a:srgbClr val="F8FAFC"/>
                </a:solidFill>
                <a:latin typeface="Aptos"/>
              </a:rPr>
              <a:t>INPUTS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3822191"/>
            <a:ext cx="4681728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8FAFC"/>
                </a:solidFill>
                <a:latin typeface="Aptos"/>
              </a:rPr>
              <a:t>Payload  •  Orbit  •  Site  •  Booster  •  Flight history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01184" y="4416552"/>
            <a:ext cx="1143000" cy="329184"/>
          </a:xfrm>
          <a:prstGeom prst="roundRect">
            <a:avLst/>
          </a:prstGeom>
          <a:solidFill>
            <a:srgbClr val="FF6B6B"/>
          </a:solidFill>
          <a:ln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965192" y="4453128"/>
            <a:ext cx="1014983" cy="219456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8FAFC"/>
                </a:solidFill>
                <a:latin typeface="Aptos"/>
              </a:rPr>
              <a:t>TARGET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4453128"/>
            <a:ext cx="4681728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8FAFC"/>
                </a:solidFill>
                <a:latin typeface="Aptos"/>
              </a:rPr>
              <a:t>Class = 1 landed  |  Class = 0 did not land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901184" y="5047488"/>
            <a:ext cx="1143000" cy="329184"/>
          </a:xfrm>
          <a:prstGeom prst="roundRect">
            <a:avLst/>
          </a:prstGeom>
          <a:solidFill>
            <a:srgbClr val="20C997"/>
          </a:solidFill>
          <a:ln>
            <a:solidFill>
              <a:srgbClr val="20C9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965192" y="5084064"/>
            <a:ext cx="1014983" cy="219456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8FAFC"/>
                </a:solidFill>
                <a:latin typeface="Aptos"/>
              </a:rPr>
              <a:t>OUTPUT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5084064"/>
            <a:ext cx="4681728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8FAFC"/>
                </a:solidFill>
                <a:latin typeface="Aptos"/>
              </a:rPr>
              <a:t>Transparent evidence for operational decision-making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38912" y="6492240"/>
            <a:ext cx="11311128" cy="0"/>
          </a:xfrm>
          <a:prstGeom prst="line">
            <a:avLst/>
          </a:prstGeom>
          <a:ln w="12700">
            <a:solidFill>
              <a:srgbClr val="1D39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75488" y="6519672"/>
            <a:ext cx="3657600" cy="20116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AFC2D4"/>
                </a:solidFill>
                <a:latin typeface="Aptos"/>
              </a:rPr>
              <a:t>Introduction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0C1F784-4B4F-98C4-35A4-E09B0699E385}"/>
              </a:ext>
            </a:extLst>
          </p:cNvPr>
          <p:cNvSpPr txBox="1"/>
          <p:nvPr/>
        </p:nvSpPr>
        <p:spPr>
          <a:xfrm>
            <a:off x="7589518" y="6538171"/>
            <a:ext cx="4157473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lang="en-US" sz="850" b="1" dirty="0">
                <a:solidFill>
                  <a:srgbClr val="22D3EE"/>
                </a:solidFill>
                <a:latin typeface="Aptos"/>
              </a:rPr>
              <a:t>GitHub  •  https://github.com/TurboMewCoin/IBM-Data-Science-Capstone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365760"/>
            <a:ext cx="438912" cy="32004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Aptos"/>
              </a:rPr>
              <a:t>04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38912" y="758952"/>
            <a:ext cx="521208" cy="0"/>
          </a:xfrm>
          <a:prstGeom prst="line">
            <a:avLst/>
          </a:prstGeom>
          <a:ln w="3175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97280" y="347472"/>
            <a:ext cx="384048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AFC2D4"/>
                </a:solidFill>
                <a:latin typeface="Aptos"/>
              </a:rPr>
              <a:t>END-TO-END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66928"/>
            <a:ext cx="10607040" cy="56692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8FAFC"/>
                </a:solidFill>
                <a:latin typeface="Aptos"/>
              </a:rPr>
              <a:t>From raw launch records to decision evidence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6072" y="1938528"/>
            <a:ext cx="1993392" cy="2066543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740664" y="2157984"/>
            <a:ext cx="457200" cy="457200"/>
          </a:xfrm>
          <a:prstGeom prst="ellipse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0664" y="2267712"/>
            <a:ext cx="457200" cy="16459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071426"/>
                </a:solidFill>
                <a:latin typeface="Apto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" y="2816352"/>
            <a:ext cx="1645920" cy="27432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COLLECT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" y="3209544"/>
            <a:ext cx="1645920" cy="493776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AFC2D4"/>
                </a:solidFill>
                <a:latin typeface="Aptos"/>
              </a:rPr>
              <a:t>API + Wikipedia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569464" y="2962656"/>
            <a:ext cx="274320" cy="0"/>
          </a:xfrm>
          <a:prstGeom prst="line">
            <a:avLst/>
          </a:prstGeom>
          <a:ln w="3175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880360" y="1938528"/>
            <a:ext cx="1993392" cy="2066543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3044952" y="2157984"/>
            <a:ext cx="457200" cy="457200"/>
          </a:xfrm>
          <a:prstGeom prst="ellipse">
            <a:avLst/>
          </a:prstGeom>
          <a:solidFill>
            <a:srgbClr val="22D3EE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044952" y="2267712"/>
            <a:ext cx="457200" cy="16459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071426"/>
                </a:solidFill>
                <a:latin typeface="Aptos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44952" y="2816352"/>
            <a:ext cx="1645920" cy="27432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WRANGLE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44952" y="3209544"/>
            <a:ext cx="1645920" cy="493776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AFC2D4"/>
                </a:solidFill>
                <a:latin typeface="Aptos"/>
              </a:rPr>
              <a:t>Normalize + label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873752" y="2962656"/>
            <a:ext cx="274320" cy="0"/>
          </a:xfrm>
          <a:prstGeom prst="line">
            <a:avLst/>
          </a:prstGeom>
          <a:ln w="3175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184648" y="1938528"/>
            <a:ext cx="1993392" cy="2066543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5349240" y="2157984"/>
            <a:ext cx="457200" cy="457200"/>
          </a:xfrm>
          <a:prstGeom prst="ellipse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349240" y="2267712"/>
            <a:ext cx="457200" cy="16459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071426"/>
                </a:solidFill>
                <a:latin typeface="Aptos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49240" y="2816352"/>
            <a:ext cx="1645920" cy="27432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EXPLORE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49240" y="3209544"/>
            <a:ext cx="1645920" cy="493776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AFC2D4"/>
                </a:solidFill>
                <a:latin typeface="Aptos"/>
              </a:rPr>
              <a:t>Plots + SQL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178040" y="2962656"/>
            <a:ext cx="274320" cy="0"/>
          </a:xfrm>
          <a:prstGeom prst="line">
            <a:avLst/>
          </a:prstGeom>
          <a:ln w="3175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7488936" y="1938528"/>
            <a:ext cx="1993392" cy="2066543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7653528" y="2157984"/>
            <a:ext cx="457200" cy="457200"/>
          </a:xfrm>
          <a:prstGeom prst="ellipse">
            <a:avLst/>
          </a:prstGeom>
          <a:solidFill>
            <a:srgbClr val="FF6B6B"/>
          </a:solidFill>
          <a:ln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653528" y="2267712"/>
            <a:ext cx="457200" cy="16459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071426"/>
                </a:solidFill>
                <a:latin typeface="Aptos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53528" y="2816352"/>
            <a:ext cx="1645920" cy="27432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INTERACT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53528" y="3209544"/>
            <a:ext cx="1645920" cy="493776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AFC2D4"/>
                </a:solidFill>
                <a:latin typeface="Aptos"/>
              </a:rPr>
              <a:t>Folium + Dash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482328" y="2962656"/>
            <a:ext cx="274320" cy="0"/>
          </a:xfrm>
          <a:prstGeom prst="line">
            <a:avLst/>
          </a:prstGeom>
          <a:ln w="3175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793224" y="1938528"/>
            <a:ext cx="1993392" cy="2066543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9957816" y="2157984"/>
            <a:ext cx="457200" cy="457200"/>
          </a:xfrm>
          <a:prstGeom prst="ellipse">
            <a:avLst/>
          </a:prstGeom>
          <a:solidFill>
            <a:srgbClr val="20C997"/>
          </a:solidFill>
          <a:ln>
            <a:solidFill>
              <a:srgbClr val="20C9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957816" y="2267712"/>
            <a:ext cx="457200" cy="16459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071426"/>
                </a:solidFill>
                <a:latin typeface="Aptos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57816" y="2816352"/>
            <a:ext cx="1645920" cy="27432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PREDICT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57816" y="3209544"/>
            <a:ext cx="1645920" cy="493776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AFC2D4"/>
                </a:solidFill>
                <a:latin typeface="Aptos"/>
              </a:rPr>
              <a:t>GridSearchCV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" y="4626864"/>
            <a:ext cx="10863072" cy="987552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96112" y="4910328"/>
            <a:ext cx="1536192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2D3EE"/>
                </a:solidFill>
                <a:latin typeface="Aptos"/>
              </a:rPr>
              <a:t>Design principle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87168" y="4846320"/>
            <a:ext cx="8808720" cy="597087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dirty="0">
                <a:solidFill>
                  <a:srgbClr val="F8FAFC"/>
                </a:solidFill>
                <a:latin typeface="Aptos"/>
              </a:rPr>
              <a:t>Every result is traceable to source data, transformations, and a reproducible notebook or Python file.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438912" y="6492240"/>
            <a:ext cx="11311128" cy="0"/>
          </a:xfrm>
          <a:prstGeom prst="line">
            <a:avLst/>
          </a:prstGeom>
          <a:ln w="12700">
            <a:solidFill>
              <a:srgbClr val="1D39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475488" y="6519672"/>
            <a:ext cx="3657600" cy="20116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AFC2D4"/>
                </a:solidFill>
                <a:latin typeface="Aptos"/>
              </a:rPr>
              <a:t>Methodology overview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B2D0956-C860-9BE4-6694-AA91F1951A60}"/>
              </a:ext>
            </a:extLst>
          </p:cNvPr>
          <p:cNvSpPr txBox="1"/>
          <p:nvPr/>
        </p:nvSpPr>
        <p:spPr>
          <a:xfrm>
            <a:off x="7589518" y="6527780"/>
            <a:ext cx="4157473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lang="en-US" sz="850" b="1" dirty="0">
                <a:solidFill>
                  <a:srgbClr val="22D3EE"/>
                </a:solidFill>
                <a:latin typeface="Aptos"/>
              </a:rPr>
              <a:t>GitHub  •  https://github.com/TurboMewCoin/IBM-Data-Science-Capstone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365760"/>
            <a:ext cx="438912" cy="32004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Aptos"/>
              </a:rPr>
              <a:t>05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38912" y="758952"/>
            <a:ext cx="521208" cy="0"/>
          </a:xfrm>
          <a:prstGeom prst="line">
            <a:avLst/>
          </a:prstGeom>
          <a:ln w="3175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97280" y="347472"/>
            <a:ext cx="384048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AFC2D4"/>
                </a:solidFill>
                <a:latin typeface="Aptos"/>
              </a:rPr>
              <a:t>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66928"/>
            <a:ext cx="10607040" cy="56692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8FAFC"/>
                </a:solidFill>
                <a:latin typeface="Aptos"/>
              </a:rPr>
              <a:t>Data collection — SpaceX REST API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536192"/>
            <a:ext cx="2011680" cy="1133856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67512" y="1746504"/>
            <a:ext cx="1737360" cy="22860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2D3EE"/>
                </a:solidFill>
                <a:latin typeface="Aptos"/>
              </a:rPr>
              <a:t>GET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2057400"/>
            <a:ext cx="1737360" cy="42062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8FAFC"/>
                </a:solidFill>
                <a:latin typeface="Aptos"/>
              </a:rPr>
              <a:t>/v4/launches/past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42032" y="2103120"/>
            <a:ext cx="256032" cy="0"/>
          </a:xfrm>
          <a:prstGeom prst="line">
            <a:avLst/>
          </a:prstGeom>
          <a:ln w="3175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852928" y="1536192"/>
            <a:ext cx="2011680" cy="1133856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990088" y="1746504"/>
            <a:ext cx="1737360" cy="22860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2D3EE"/>
                </a:solidFill>
                <a:latin typeface="Aptos"/>
              </a:rPr>
              <a:t>LOOK 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90088" y="2057400"/>
            <a:ext cx="1737360" cy="44319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8FAFC"/>
                </a:solidFill>
                <a:latin typeface="Aptos"/>
              </a:rPr>
              <a:t>rockets · payloads · launchpads · cores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864608" y="2103120"/>
            <a:ext cx="256032" cy="0"/>
          </a:xfrm>
          <a:prstGeom prst="line">
            <a:avLst/>
          </a:prstGeom>
          <a:ln w="3175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175504" y="1536192"/>
            <a:ext cx="2011680" cy="1133856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312664" y="1746504"/>
            <a:ext cx="1737360" cy="22860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2D3EE"/>
                </a:solidFill>
                <a:latin typeface="Aptos"/>
              </a:rPr>
              <a:t>NORMALIZE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12664" y="2057400"/>
            <a:ext cx="1737360" cy="44319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8FAFC"/>
                </a:solidFill>
                <a:latin typeface="Aptos"/>
              </a:rPr>
              <a:t>JSON → pandas </a:t>
            </a:r>
            <a:r>
              <a:rPr sz="1200" b="1" dirty="0" err="1">
                <a:solidFill>
                  <a:srgbClr val="F8FAFC"/>
                </a:solidFill>
                <a:latin typeface="Aptos"/>
              </a:rPr>
              <a:t>DataFrame</a:t>
            </a:r>
            <a:endParaRPr sz="1200" b="1" dirty="0">
              <a:solidFill>
                <a:srgbClr val="F8FAFC"/>
              </a:solidFill>
              <a:latin typeface="Aptos"/>
            </a:endParaRPr>
          </a:p>
        </p:txBody>
      </p:sp>
      <p:cxnSp>
        <p:nvCxnSpPr>
          <p:cNvPr id="17" name="Connector 16"/>
          <p:cNvCxnSpPr/>
          <p:nvPr/>
        </p:nvCxnSpPr>
        <p:spPr>
          <a:xfrm>
            <a:off x="7187184" y="2103120"/>
            <a:ext cx="256032" cy="0"/>
          </a:xfrm>
          <a:prstGeom prst="line">
            <a:avLst/>
          </a:prstGeom>
          <a:ln w="3175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498079" y="1536192"/>
            <a:ext cx="2011680" cy="1133856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635240" y="1746504"/>
            <a:ext cx="1737360" cy="22860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2D3EE"/>
                </a:solidFill>
                <a:latin typeface="Aptos"/>
              </a:rPr>
              <a:t>FILTER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5240" y="2057400"/>
            <a:ext cx="1737360" cy="42062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F8FAFC"/>
                </a:solidFill>
                <a:latin typeface="Aptos"/>
              </a:rPr>
              <a:t>Falcon 9 launch records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509759" y="2103120"/>
            <a:ext cx="256033" cy="0"/>
          </a:xfrm>
          <a:prstGeom prst="line">
            <a:avLst/>
          </a:prstGeom>
          <a:ln w="3175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9820656" y="1536192"/>
            <a:ext cx="2011680" cy="1133856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957816" y="1746504"/>
            <a:ext cx="1737360" cy="22860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2D3EE"/>
                </a:solidFill>
                <a:latin typeface="Aptos"/>
              </a:rPr>
              <a:t>EXPORT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57816" y="2057400"/>
            <a:ext cx="1737360" cy="42062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8FAFC"/>
                </a:solidFill>
                <a:latin typeface="Aptos"/>
              </a:rPr>
              <a:t>structured CSV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136392"/>
            <a:ext cx="5230368" cy="2523744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96112" y="3456432"/>
            <a:ext cx="2011680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BBF24"/>
                </a:solidFill>
                <a:latin typeface="Aptos"/>
              </a:rPr>
              <a:t>Core fields retained</a:t>
            </a:r>
          </a:p>
        </p:txBody>
      </p:sp>
      <p:sp>
        <p:nvSpPr>
          <p:cNvPr id="27" name="Oval 26"/>
          <p:cNvSpPr/>
          <p:nvPr/>
        </p:nvSpPr>
        <p:spPr>
          <a:xfrm>
            <a:off x="896112" y="3950208"/>
            <a:ext cx="100584" cy="100584"/>
          </a:xfrm>
          <a:prstGeom prst="ellipse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097280" y="3877056"/>
            <a:ext cx="4279392" cy="39319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F8FAFC"/>
                </a:solidFill>
                <a:latin typeface="Aptos"/>
              </a:rPr>
              <a:t>Flight number and date</a:t>
            </a:r>
          </a:p>
        </p:txBody>
      </p:sp>
      <p:sp>
        <p:nvSpPr>
          <p:cNvPr id="29" name="Oval 28"/>
          <p:cNvSpPr/>
          <p:nvPr/>
        </p:nvSpPr>
        <p:spPr>
          <a:xfrm>
            <a:off x="896112" y="4343400"/>
            <a:ext cx="100584" cy="100584"/>
          </a:xfrm>
          <a:prstGeom prst="ellipse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097280" y="4270248"/>
            <a:ext cx="4279392" cy="39319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F8FAFC"/>
                </a:solidFill>
                <a:latin typeface="Aptos"/>
              </a:rPr>
              <a:t>Booster / core configuration</a:t>
            </a:r>
          </a:p>
        </p:txBody>
      </p:sp>
      <p:sp>
        <p:nvSpPr>
          <p:cNvPr id="31" name="Oval 30"/>
          <p:cNvSpPr/>
          <p:nvPr/>
        </p:nvSpPr>
        <p:spPr>
          <a:xfrm>
            <a:off x="896112" y="4736592"/>
            <a:ext cx="100584" cy="100584"/>
          </a:xfrm>
          <a:prstGeom prst="ellipse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097280" y="4663440"/>
            <a:ext cx="4279392" cy="39319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F8FAFC"/>
                </a:solidFill>
                <a:latin typeface="Aptos"/>
              </a:rPr>
              <a:t>Payload mass and orbit</a:t>
            </a:r>
          </a:p>
        </p:txBody>
      </p:sp>
      <p:sp>
        <p:nvSpPr>
          <p:cNvPr id="33" name="Oval 32"/>
          <p:cNvSpPr/>
          <p:nvPr/>
        </p:nvSpPr>
        <p:spPr>
          <a:xfrm>
            <a:off x="896112" y="5129784"/>
            <a:ext cx="100584" cy="100584"/>
          </a:xfrm>
          <a:prstGeom prst="ellipse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097280" y="5056632"/>
            <a:ext cx="4279392" cy="39319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F8FAFC"/>
                </a:solidFill>
                <a:latin typeface="Aptos"/>
              </a:rPr>
              <a:t>Launch site and landing outcome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26480" y="3136392"/>
            <a:ext cx="5394960" cy="2523744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364224" y="3456432"/>
            <a:ext cx="2011680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0C997"/>
                </a:solidFill>
                <a:latin typeface="Aptos"/>
              </a:rPr>
              <a:t>Quality controls</a:t>
            </a:r>
          </a:p>
        </p:txBody>
      </p:sp>
      <p:sp>
        <p:nvSpPr>
          <p:cNvPr id="37" name="Oval 36"/>
          <p:cNvSpPr/>
          <p:nvPr/>
        </p:nvSpPr>
        <p:spPr>
          <a:xfrm>
            <a:off x="6364224" y="3950208"/>
            <a:ext cx="100584" cy="100584"/>
          </a:xfrm>
          <a:prstGeom prst="ellipse">
            <a:avLst/>
          </a:prstGeom>
          <a:solidFill>
            <a:srgbClr val="20C997"/>
          </a:solidFill>
          <a:ln>
            <a:solidFill>
              <a:srgbClr val="20C9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565392" y="3877056"/>
            <a:ext cx="4370832" cy="39319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F8FAFC"/>
                </a:solidFill>
                <a:latin typeface="Aptos"/>
              </a:rPr>
              <a:t>Resolve related IDs before analysis</a:t>
            </a:r>
          </a:p>
        </p:txBody>
      </p:sp>
      <p:sp>
        <p:nvSpPr>
          <p:cNvPr id="39" name="Oval 38"/>
          <p:cNvSpPr/>
          <p:nvPr/>
        </p:nvSpPr>
        <p:spPr>
          <a:xfrm>
            <a:off x="6364224" y="4343400"/>
            <a:ext cx="100584" cy="100584"/>
          </a:xfrm>
          <a:prstGeom prst="ellipse">
            <a:avLst/>
          </a:prstGeom>
          <a:solidFill>
            <a:srgbClr val="20C997"/>
          </a:solidFill>
          <a:ln>
            <a:solidFill>
              <a:srgbClr val="20C9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565392" y="4270248"/>
            <a:ext cx="4370832" cy="39319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F8FAFC"/>
                </a:solidFill>
                <a:latin typeface="Aptos"/>
              </a:rPr>
              <a:t>Remove empty or irrelevant records</a:t>
            </a:r>
          </a:p>
        </p:txBody>
      </p:sp>
      <p:sp>
        <p:nvSpPr>
          <p:cNvPr id="41" name="Oval 40"/>
          <p:cNvSpPr/>
          <p:nvPr/>
        </p:nvSpPr>
        <p:spPr>
          <a:xfrm>
            <a:off x="6364224" y="4736592"/>
            <a:ext cx="100584" cy="100584"/>
          </a:xfrm>
          <a:prstGeom prst="ellipse">
            <a:avLst/>
          </a:prstGeom>
          <a:solidFill>
            <a:srgbClr val="20C997"/>
          </a:solidFill>
          <a:ln>
            <a:solidFill>
              <a:srgbClr val="20C9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565392" y="4663440"/>
            <a:ext cx="4370832" cy="39319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F8FAFC"/>
                </a:solidFill>
                <a:latin typeface="Aptos"/>
              </a:rPr>
              <a:t>Preserve a repeatable extraction path</a:t>
            </a:r>
          </a:p>
        </p:txBody>
      </p:sp>
      <p:sp>
        <p:nvSpPr>
          <p:cNvPr id="43" name="Oval 42"/>
          <p:cNvSpPr/>
          <p:nvPr/>
        </p:nvSpPr>
        <p:spPr>
          <a:xfrm>
            <a:off x="6364224" y="5129784"/>
            <a:ext cx="100584" cy="100584"/>
          </a:xfrm>
          <a:prstGeom prst="ellipse">
            <a:avLst/>
          </a:prstGeom>
          <a:solidFill>
            <a:srgbClr val="20C997"/>
          </a:solidFill>
          <a:ln>
            <a:solidFill>
              <a:srgbClr val="20C9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565392" y="5056632"/>
            <a:ext cx="4370832" cy="39319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F8FAFC"/>
                </a:solidFill>
                <a:latin typeface="Aptos"/>
              </a:rPr>
              <a:t>Store the final analytical table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438912" y="6492240"/>
            <a:ext cx="11311128" cy="0"/>
          </a:xfrm>
          <a:prstGeom prst="line">
            <a:avLst/>
          </a:prstGeom>
          <a:ln w="12700">
            <a:solidFill>
              <a:srgbClr val="1D39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475488" y="6519672"/>
            <a:ext cx="3657600" cy="20116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AFC2D4"/>
                </a:solidFill>
                <a:latin typeface="Aptos"/>
              </a:rPr>
              <a:t>Data collection — API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D5F9B85-ACDB-7768-2D33-6C1E846DD826}"/>
              </a:ext>
            </a:extLst>
          </p:cNvPr>
          <p:cNvSpPr txBox="1"/>
          <p:nvPr/>
        </p:nvSpPr>
        <p:spPr>
          <a:xfrm>
            <a:off x="7589518" y="6527780"/>
            <a:ext cx="4157473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lang="en-US" sz="850" b="1" dirty="0">
                <a:solidFill>
                  <a:srgbClr val="22D3EE"/>
                </a:solidFill>
                <a:latin typeface="Aptos"/>
              </a:rPr>
              <a:t>GitHub  •  https://github.com/TurboMewCoin/IBM-Data-Science-Capstone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365760"/>
            <a:ext cx="438912" cy="32004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Aptos"/>
              </a:rPr>
              <a:t>06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38912" y="758952"/>
            <a:ext cx="521208" cy="0"/>
          </a:xfrm>
          <a:prstGeom prst="line">
            <a:avLst/>
          </a:prstGeom>
          <a:ln w="3175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97280" y="347472"/>
            <a:ext cx="384048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AFC2D4"/>
                </a:solidFill>
                <a:latin typeface="Aptos"/>
              </a:rPr>
              <a:t>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66928"/>
            <a:ext cx="10607040" cy="56692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8FAFC"/>
                </a:solidFill>
                <a:latin typeface="Aptos"/>
              </a:rPr>
              <a:t>Data collection — web scraping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353312"/>
            <a:ext cx="6784848" cy="4407408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60120" y="1664208"/>
            <a:ext cx="384048" cy="384048"/>
          </a:xfrm>
          <a:prstGeom prst="ellipse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1755648"/>
            <a:ext cx="384048" cy="16459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071426"/>
                </a:solidFill>
                <a:latin typeface="Apto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682496"/>
            <a:ext cx="5349240" cy="34747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Request Wikipedia launch-history page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52144" y="2048256"/>
            <a:ext cx="0" cy="329184"/>
          </a:xfrm>
          <a:prstGeom prst="line">
            <a:avLst/>
          </a:prstGeom>
          <a:ln w="25400">
            <a:solidFill>
              <a:srgbClr val="1D39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960120" y="2414016"/>
            <a:ext cx="384048" cy="384048"/>
          </a:xfrm>
          <a:prstGeom prst="ellipse">
            <a:avLst/>
          </a:prstGeom>
          <a:solidFill>
            <a:srgbClr val="22D3EE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60120" y="2505456"/>
            <a:ext cx="384048" cy="16459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071426"/>
                </a:solidFill>
                <a:latin typeface="Apto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432304"/>
            <a:ext cx="5349240" cy="34747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Parse HTML tables with BeautifulSoup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152144" y="2798064"/>
            <a:ext cx="0" cy="329184"/>
          </a:xfrm>
          <a:prstGeom prst="line">
            <a:avLst/>
          </a:prstGeom>
          <a:ln w="25400">
            <a:solidFill>
              <a:srgbClr val="1D39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960120" y="3163824"/>
            <a:ext cx="384048" cy="384048"/>
          </a:xfrm>
          <a:prstGeom prst="ellipse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60120" y="3255264"/>
            <a:ext cx="384048" cy="16459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071426"/>
                </a:solidFill>
                <a:latin typeface="Apto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182112"/>
            <a:ext cx="5349240" cy="34747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Extract rows and normalize cell text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152144" y="3547872"/>
            <a:ext cx="0" cy="329184"/>
          </a:xfrm>
          <a:prstGeom prst="line">
            <a:avLst/>
          </a:prstGeom>
          <a:ln w="25400">
            <a:solidFill>
              <a:srgbClr val="1D39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960120" y="3913632"/>
            <a:ext cx="384048" cy="384048"/>
          </a:xfrm>
          <a:prstGeom prst="ellipse">
            <a:avLst/>
          </a:prstGeom>
          <a:solidFill>
            <a:srgbClr val="FF6B6B"/>
          </a:solidFill>
          <a:ln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60120" y="4005072"/>
            <a:ext cx="384048" cy="16459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071426"/>
                </a:solidFill>
                <a:latin typeface="Apto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3931920"/>
            <a:ext cx="5349240" cy="34747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Build a structured launch-record DataFrame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152144" y="4297680"/>
            <a:ext cx="0" cy="329184"/>
          </a:xfrm>
          <a:prstGeom prst="line">
            <a:avLst/>
          </a:prstGeom>
          <a:ln w="25400">
            <a:solidFill>
              <a:srgbClr val="1D39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960120" y="4663440"/>
            <a:ext cx="384048" cy="384048"/>
          </a:xfrm>
          <a:prstGeom prst="ellipse">
            <a:avLst/>
          </a:prstGeom>
          <a:solidFill>
            <a:srgbClr val="20C997"/>
          </a:solidFill>
          <a:ln>
            <a:solidFill>
              <a:srgbClr val="20C9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60120" y="4754879"/>
            <a:ext cx="384048" cy="16459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071426"/>
                </a:solidFill>
                <a:latin typeface="Aptos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4681727"/>
            <a:ext cx="5349240" cy="34747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Validate columns and export for analysis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17536" y="1353312"/>
            <a:ext cx="3803904" cy="4407408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991856" y="1719072"/>
            <a:ext cx="2468880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2D3EE"/>
                </a:solidFill>
                <a:latin typeface="Aptos"/>
              </a:rPr>
              <a:t>Fields extracted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91856" y="2221992"/>
            <a:ext cx="2980944" cy="329184"/>
          </a:xfrm>
          <a:prstGeom prst="roundRect">
            <a:avLst/>
          </a:prstGeom>
          <a:solidFill>
            <a:srgbClr val="1D3952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055864" y="2258568"/>
            <a:ext cx="2852927" cy="219456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8FAFC"/>
                </a:solidFill>
                <a:latin typeface="Aptos"/>
              </a:rPr>
              <a:t>Flight No.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91856" y="2697480"/>
            <a:ext cx="2980944" cy="329184"/>
          </a:xfrm>
          <a:prstGeom prst="roundRect">
            <a:avLst/>
          </a:prstGeom>
          <a:solidFill>
            <a:srgbClr val="1D3952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055864" y="2734056"/>
            <a:ext cx="2852927" cy="219456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8FAFC"/>
                </a:solidFill>
                <a:latin typeface="Aptos"/>
              </a:rPr>
              <a:t>Launch site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91856" y="3172968"/>
            <a:ext cx="2980944" cy="329184"/>
          </a:xfrm>
          <a:prstGeom prst="roundRect">
            <a:avLst/>
          </a:prstGeom>
          <a:solidFill>
            <a:srgbClr val="1D3952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055864" y="3209544"/>
            <a:ext cx="2852927" cy="219456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8FAFC"/>
                </a:solidFill>
                <a:latin typeface="Aptos"/>
              </a:rPr>
              <a:t>Payload / orbit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91856" y="3648456"/>
            <a:ext cx="2980944" cy="329184"/>
          </a:xfrm>
          <a:prstGeom prst="roundRect">
            <a:avLst/>
          </a:prstGeom>
          <a:solidFill>
            <a:srgbClr val="1D3952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055864" y="3685032"/>
            <a:ext cx="2852927" cy="219456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8FAFC"/>
                </a:solidFill>
                <a:latin typeface="Aptos"/>
              </a:rPr>
              <a:t>Customer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991856" y="4123944"/>
            <a:ext cx="2980944" cy="329184"/>
          </a:xfrm>
          <a:prstGeom prst="roundRect">
            <a:avLst/>
          </a:prstGeom>
          <a:solidFill>
            <a:srgbClr val="1D3952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055864" y="4160520"/>
            <a:ext cx="2852927" cy="219456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8FAFC"/>
                </a:solidFill>
                <a:latin typeface="Aptos"/>
              </a:rPr>
              <a:t>Mission outcome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991856" y="4599432"/>
            <a:ext cx="2980944" cy="329184"/>
          </a:xfrm>
          <a:prstGeom prst="roundRect">
            <a:avLst/>
          </a:prstGeom>
          <a:solidFill>
            <a:srgbClr val="1D3952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055864" y="4636008"/>
            <a:ext cx="2852927" cy="219456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8FAFC"/>
                </a:solidFill>
                <a:latin typeface="Aptos"/>
              </a:rPr>
              <a:t>Booster landing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438912" y="6492240"/>
            <a:ext cx="11311128" cy="0"/>
          </a:xfrm>
          <a:prstGeom prst="line">
            <a:avLst/>
          </a:prstGeom>
          <a:ln w="12700">
            <a:solidFill>
              <a:srgbClr val="1D39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475488" y="6519672"/>
            <a:ext cx="3657600" cy="20116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AFC2D4"/>
                </a:solidFill>
                <a:latin typeface="Aptos"/>
              </a:rPr>
              <a:t>Data collection — web scraping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5B8CF27-0D6A-32AF-CF28-52D3C63BD92A}"/>
              </a:ext>
            </a:extLst>
          </p:cNvPr>
          <p:cNvSpPr txBox="1"/>
          <p:nvPr/>
        </p:nvSpPr>
        <p:spPr>
          <a:xfrm>
            <a:off x="7589518" y="6527780"/>
            <a:ext cx="4157473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lang="en-US" sz="850" b="1" dirty="0">
                <a:solidFill>
                  <a:srgbClr val="22D3EE"/>
                </a:solidFill>
                <a:latin typeface="Aptos"/>
              </a:rPr>
              <a:t>GitHub  •  https://github.com/TurboMewCoin/IBM-Data-Science-Capstone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365760"/>
            <a:ext cx="438912" cy="32004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Aptos"/>
              </a:rPr>
              <a:t>07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38912" y="758952"/>
            <a:ext cx="521208" cy="0"/>
          </a:xfrm>
          <a:prstGeom prst="line">
            <a:avLst/>
          </a:prstGeom>
          <a:ln w="3175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97280" y="347472"/>
            <a:ext cx="384048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AFC2D4"/>
                </a:solidFill>
                <a:latin typeface="Aptos"/>
              </a:rPr>
              <a:t>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66928"/>
            <a:ext cx="10607040" cy="56692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8FAFC"/>
                </a:solidFill>
                <a:latin typeface="Aptos"/>
              </a:rPr>
              <a:t>Data wrangling and feature engineering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417320"/>
            <a:ext cx="5230368" cy="1709928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14400" y="1737360"/>
            <a:ext cx="438912" cy="438912"/>
          </a:xfrm>
          <a:prstGeom prst="ellipse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554480" y="1691640"/>
            <a:ext cx="1508760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B82F6"/>
                </a:solidFill>
                <a:latin typeface="Aptos"/>
              </a:rPr>
              <a:t>CLEAN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121408"/>
            <a:ext cx="3959352" cy="50475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Handle missing payloads, normalize text, remove duplicates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44768" y="1417320"/>
            <a:ext cx="5230368" cy="1709928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6400800" y="1737360"/>
            <a:ext cx="438912" cy="438912"/>
          </a:xfrm>
          <a:prstGeom prst="ellipse">
            <a:avLst/>
          </a:prstGeom>
          <a:solidFill>
            <a:srgbClr val="22D3EE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040879" y="1691640"/>
            <a:ext cx="1508760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2D3EE"/>
                </a:solidFill>
                <a:latin typeface="Aptos"/>
              </a:rPr>
              <a:t>LABEL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79" y="2121408"/>
            <a:ext cx="3959352" cy="60350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Convert landing outcome to binary class 0 / 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520439"/>
            <a:ext cx="5230368" cy="1709928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914400" y="3840479"/>
            <a:ext cx="438912" cy="438912"/>
          </a:xfrm>
          <a:prstGeom prst="ellipse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554480" y="3794759"/>
            <a:ext cx="1508760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BBF24"/>
                </a:solidFill>
                <a:latin typeface="Aptos"/>
              </a:rPr>
              <a:t>ENCODE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4224527"/>
            <a:ext cx="3959352" cy="50475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dirty="0">
                <a:solidFill>
                  <a:srgbClr val="F8FAFC"/>
                </a:solidFill>
                <a:latin typeface="Aptos"/>
              </a:rPr>
              <a:t>One-hot encode orbit, site, landing pad, and serial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44768" y="3520439"/>
            <a:ext cx="5230368" cy="1709928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6400800" y="3840479"/>
            <a:ext cx="438912" cy="438912"/>
          </a:xfrm>
          <a:prstGeom prst="ellipse">
            <a:avLst/>
          </a:prstGeom>
          <a:solidFill>
            <a:srgbClr val="FF6B6B"/>
          </a:solidFill>
          <a:ln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040879" y="3794759"/>
            <a:ext cx="1508760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6B6B"/>
                </a:solidFill>
                <a:latin typeface="Aptos"/>
              </a:rPr>
              <a:t>SCALE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79" y="4224527"/>
            <a:ext cx="4030244" cy="50475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dirty="0">
                <a:solidFill>
                  <a:srgbClr val="F8FAFC"/>
                </a:solidFill>
                <a:latin typeface="Aptos"/>
              </a:rPr>
              <a:t>Standardize numeric features before distance-based models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5669280"/>
            <a:ext cx="10716768" cy="548640"/>
          </a:xfrm>
          <a:prstGeom prst="roundRect">
            <a:avLst/>
          </a:prstGeom>
          <a:solidFill>
            <a:srgbClr val="1D3952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68680" y="5824728"/>
            <a:ext cx="10287000" cy="22860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Result: one analysis-ready feature matrix X and one target vector Y.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38912" y="6492240"/>
            <a:ext cx="11311128" cy="0"/>
          </a:xfrm>
          <a:prstGeom prst="line">
            <a:avLst/>
          </a:prstGeom>
          <a:ln w="12700">
            <a:solidFill>
              <a:srgbClr val="1D39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75488" y="6519672"/>
            <a:ext cx="3657600" cy="20116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AFC2D4"/>
                </a:solidFill>
                <a:latin typeface="Aptos"/>
              </a:rPr>
              <a:t>Data wrangling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5F72A1A-E3A8-B7AB-274A-75E8C651591A}"/>
              </a:ext>
            </a:extLst>
          </p:cNvPr>
          <p:cNvSpPr txBox="1"/>
          <p:nvPr/>
        </p:nvSpPr>
        <p:spPr>
          <a:xfrm>
            <a:off x="7589518" y="6527780"/>
            <a:ext cx="4157473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lang="en-US" sz="850" b="1" dirty="0">
                <a:solidFill>
                  <a:srgbClr val="22D3EE"/>
                </a:solidFill>
                <a:latin typeface="Aptos"/>
              </a:rPr>
              <a:t>GitHub  •  https://github.com/TurboMewCoin/IBM-Data-Science-Capstone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365760"/>
            <a:ext cx="438912" cy="32004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Aptos"/>
              </a:rPr>
              <a:t>08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38912" y="758952"/>
            <a:ext cx="521208" cy="0"/>
          </a:xfrm>
          <a:prstGeom prst="line">
            <a:avLst/>
          </a:prstGeom>
          <a:ln w="3175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97280" y="347472"/>
            <a:ext cx="384048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AFC2D4"/>
                </a:solidFill>
                <a:latin typeface="Aptos"/>
              </a:rPr>
              <a:t>EDA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66928"/>
            <a:ext cx="10607040" cy="56692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8FAFC"/>
                </a:solidFill>
                <a:latin typeface="Aptos"/>
              </a:rPr>
              <a:t>Exploratory analysis — questions before models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444752"/>
            <a:ext cx="3401568" cy="1691640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59536" y="1664208"/>
            <a:ext cx="914400" cy="22860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2D3EE"/>
                </a:solidFill>
                <a:latin typeface="Aptos"/>
              </a:rPr>
              <a:t>SITE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103120"/>
            <a:ext cx="3014374" cy="566309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dirty="0">
                <a:solidFill>
                  <a:srgbClr val="F8FAFC"/>
                </a:solidFill>
                <a:latin typeface="Aptos"/>
              </a:rPr>
              <a:t>Where do launches succeed most often?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4255" y="1444752"/>
            <a:ext cx="3401568" cy="1691640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35423" y="1664208"/>
            <a:ext cx="914400" cy="22860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BBF24"/>
                </a:solidFill>
                <a:latin typeface="Aptos"/>
              </a:rPr>
              <a:t>PAYLOAD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5423" y="2103120"/>
            <a:ext cx="2944368" cy="566309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dirty="0">
                <a:solidFill>
                  <a:srgbClr val="F8FAFC"/>
                </a:solidFill>
                <a:latin typeface="Aptos"/>
              </a:rPr>
              <a:t>How does mass relate to outcome?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10144" y="1444752"/>
            <a:ext cx="3401568" cy="1691640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11312" y="1664208"/>
            <a:ext cx="914400" cy="22860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6B6B"/>
                </a:solidFill>
                <a:latin typeface="Aptos"/>
              </a:rPr>
              <a:t>ORBIT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11312" y="2103120"/>
            <a:ext cx="2944368" cy="566309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dirty="0">
                <a:solidFill>
                  <a:srgbClr val="F8FAFC"/>
                </a:solidFill>
                <a:latin typeface="Aptos"/>
              </a:rPr>
              <a:t>Which mission profiles are most successful?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547872"/>
            <a:ext cx="3401568" cy="1691640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59536" y="3767328"/>
            <a:ext cx="914400" cy="22860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0C997"/>
                </a:solidFill>
                <a:latin typeface="Aptos"/>
              </a:rPr>
              <a:t>BOOSTER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" y="4206240"/>
            <a:ext cx="3014374" cy="566309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dirty="0">
                <a:solidFill>
                  <a:srgbClr val="F8FAFC"/>
                </a:solidFill>
                <a:latin typeface="Aptos"/>
              </a:rPr>
              <a:t>Which configurations perform best?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34255" y="3547872"/>
            <a:ext cx="3401568" cy="1691640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35423" y="3767328"/>
            <a:ext cx="914400" cy="22860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3B82F6"/>
                </a:solidFill>
                <a:latin typeface="Aptos"/>
              </a:rPr>
              <a:t>TIME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35423" y="4206240"/>
            <a:ext cx="3045248" cy="566309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dirty="0">
                <a:solidFill>
                  <a:srgbClr val="F8FAFC"/>
                </a:solidFill>
                <a:latin typeface="Aptos"/>
              </a:rPr>
              <a:t>Does success improve as experience grows?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10144" y="3547872"/>
            <a:ext cx="3401568" cy="1691640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211312" y="3767328"/>
            <a:ext cx="914400" cy="22860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2D3EE"/>
                </a:solidFill>
                <a:latin typeface="Aptos"/>
              </a:rPr>
              <a:t>RISK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11312" y="4206240"/>
            <a:ext cx="2944368" cy="65836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8FAFC"/>
                </a:solidFill>
                <a:latin typeface="Aptos"/>
              </a:rPr>
              <a:t>Where do failures cluster?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5806440"/>
            <a:ext cx="10698480" cy="30175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>
                <a:solidFill>
                  <a:srgbClr val="AFC2D4"/>
                </a:solidFill>
                <a:latin typeface="Aptos"/>
              </a:rPr>
              <a:t>Charts explain relationships; SQL verifies exact aggregations.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38912" y="6492240"/>
            <a:ext cx="11311128" cy="0"/>
          </a:xfrm>
          <a:prstGeom prst="line">
            <a:avLst/>
          </a:prstGeom>
          <a:ln w="12700">
            <a:solidFill>
              <a:srgbClr val="1D39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75488" y="6519672"/>
            <a:ext cx="3657600" cy="20116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AFC2D4"/>
                </a:solidFill>
                <a:latin typeface="Aptos"/>
              </a:rPr>
              <a:t>EDA methodology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FB2884B-B122-524B-0AFA-0455EBD52A38}"/>
              </a:ext>
            </a:extLst>
          </p:cNvPr>
          <p:cNvSpPr txBox="1"/>
          <p:nvPr/>
        </p:nvSpPr>
        <p:spPr>
          <a:xfrm>
            <a:off x="7589518" y="6527780"/>
            <a:ext cx="4157473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lang="en-US" sz="850" b="1" dirty="0">
                <a:solidFill>
                  <a:srgbClr val="22D3EE"/>
                </a:solidFill>
                <a:latin typeface="Aptos"/>
              </a:rPr>
              <a:t>GitHub  •  https://github.com/TurboMewCoin/IBM-Data-Science-Capstone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365760"/>
            <a:ext cx="438912" cy="32004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Aptos"/>
              </a:rPr>
              <a:t>09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38912" y="758952"/>
            <a:ext cx="521208" cy="0"/>
          </a:xfrm>
          <a:prstGeom prst="line">
            <a:avLst/>
          </a:prstGeom>
          <a:ln w="3175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97280" y="347472"/>
            <a:ext cx="384048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AFC2D4"/>
                </a:solidFill>
                <a:latin typeface="Aptos"/>
              </a:rPr>
              <a:t>VISUALIZATION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66928"/>
            <a:ext cx="10607040" cy="56692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8FAFC"/>
                </a:solidFill>
                <a:latin typeface="Aptos"/>
              </a:rPr>
              <a:t>EDA results — site, payload, and experience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1243584"/>
            <a:ext cx="5623560" cy="2286000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site_suc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369" y="1243584"/>
            <a:ext cx="5289525" cy="2286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272784" y="1243584"/>
            <a:ext cx="5376672" cy="2286000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325705" y="1243584"/>
            <a:ext cx="5270829" cy="228599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3730752"/>
            <a:ext cx="5623560" cy="2267712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payload_outco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3761" y="3730752"/>
            <a:ext cx="5116741" cy="2267712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272784" y="3730752"/>
            <a:ext cx="5376672" cy="2267712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booster_succes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70541" y="3730752"/>
            <a:ext cx="4381157" cy="2267712"/>
          </a:xfrm>
          <a:prstGeom prst="rect">
            <a:avLst/>
          </a:prstGeom>
        </p:spPr>
      </p:pic>
      <p:cxnSp>
        <p:nvCxnSpPr>
          <p:cNvPr id="14" name="Connector 13"/>
          <p:cNvCxnSpPr/>
          <p:nvPr/>
        </p:nvCxnSpPr>
        <p:spPr>
          <a:xfrm>
            <a:off x="438912" y="6492240"/>
            <a:ext cx="11311128" cy="0"/>
          </a:xfrm>
          <a:prstGeom prst="line">
            <a:avLst/>
          </a:prstGeom>
          <a:ln w="12700">
            <a:solidFill>
              <a:srgbClr val="1D39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75488" y="6519672"/>
            <a:ext cx="3657600" cy="20116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AFC2D4"/>
                </a:solidFill>
                <a:latin typeface="Aptos"/>
              </a:rPr>
              <a:t>EDA visualization results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13B9B5E-D8DF-5575-36E7-E8E5B30C6CDC}"/>
              </a:ext>
            </a:extLst>
          </p:cNvPr>
          <p:cNvSpPr txBox="1"/>
          <p:nvPr/>
        </p:nvSpPr>
        <p:spPr>
          <a:xfrm>
            <a:off x="7589518" y="6527780"/>
            <a:ext cx="4157473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lang="en-US" sz="850" b="1" dirty="0">
                <a:solidFill>
                  <a:srgbClr val="22D3EE"/>
                </a:solidFill>
                <a:latin typeface="Aptos"/>
              </a:rPr>
              <a:t>GitHub  •  https://github.com/TurboMewCoin/IBM-Data-Science-Capstone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365760"/>
            <a:ext cx="438912" cy="32004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Aptos"/>
              </a:rPr>
              <a:t>10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38912" y="758952"/>
            <a:ext cx="521208" cy="0"/>
          </a:xfrm>
          <a:prstGeom prst="line">
            <a:avLst/>
          </a:prstGeom>
          <a:ln w="3175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97280" y="347472"/>
            <a:ext cx="384048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AFC2D4"/>
                </a:solidFill>
                <a:latin typeface="Aptos"/>
              </a:rPr>
              <a:t>SQL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66928"/>
            <a:ext cx="10607040" cy="56692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8FAFC"/>
                </a:solidFill>
                <a:latin typeface="Aptos"/>
              </a:rPr>
              <a:t>EDA with SQL — reproducible analytical questions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463040"/>
            <a:ext cx="402336" cy="219456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2D3EE"/>
                </a:solidFill>
                <a:latin typeface="Aptos"/>
              </a:rPr>
              <a:t>01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188720" y="1609344"/>
            <a:ext cx="566928" cy="0"/>
          </a:xfrm>
          <a:prstGeom prst="line">
            <a:avLst/>
          </a:prstGeom>
          <a:ln w="25400">
            <a:solidFill>
              <a:srgbClr val="1D39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920240" y="1371600"/>
            <a:ext cx="1920240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BBF24"/>
                </a:solidFill>
                <a:latin typeface="Aptos"/>
              </a:rPr>
              <a:t>SITE COVERAGE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68496" y="1371600"/>
            <a:ext cx="7059168" cy="41148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8FAFC"/>
                </a:solidFill>
                <a:latin typeface="Aptos"/>
              </a:rPr>
              <a:t>DISTINCT launch sites and CCA-prefixed records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359152"/>
            <a:ext cx="402336" cy="219456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2D3EE"/>
                </a:solidFill>
                <a:latin typeface="Aptos"/>
              </a:rPr>
              <a:t>02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188720" y="2505456"/>
            <a:ext cx="566928" cy="0"/>
          </a:xfrm>
          <a:prstGeom prst="line">
            <a:avLst/>
          </a:prstGeom>
          <a:ln w="25400">
            <a:solidFill>
              <a:srgbClr val="1D39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920240" y="2267712"/>
            <a:ext cx="1920240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BBF24"/>
                </a:solidFill>
                <a:latin typeface="Aptos"/>
              </a:rPr>
              <a:t>PAYLOAD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8496" y="2267712"/>
            <a:ext cx="7059168" cy="41148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8FAFC"/>
                </a:solidFill>
                <a:latin typeface="Aptos"/>
              </a:rPr>
              <a:t>SUM and AVG payload mass by customer / booster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3255264"/>
            <a:ext cx="402336" cy="219456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2D3EE"/>
                </a:solidFill>
                <a:latin typeface="Aptos"/>
              </a:rPr>
              <a:t>03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188720" y="3401568"/>
            <a:ext cx="566928" cy="0"/>
          </a:xfrm>
          <a:prstGeom prst="line">
            <a:avLst/>
          </a:prstGeom>
          <a:ln w="25400">
            <a:solidFill>
              <a:srgbClr val="1D39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920240" y="3163824"/>
            <a:ext cx="1920240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BBF24"/>
                </a:solidFill>
                <a:latin typeface="Aptos"/>
              </a:rPr>
              <a:t>SUCCESS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68496" y="3163824"/>
            <a:ext cx="7059168" cy="41148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8FAFC"/>
                </a:solidFill>
                <a:latin typeface="Aptos"/>
              </a:rPr>
              <a:t>COUNT outcomes and drone-ship landings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4151375"/>
            <a:ext cx="402336" cy="219456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2D3EE"/>
                </a:solidFill>
                <a:latin typeface="Aptos"/>
              </a:rPr>
              <a:t>04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188720" y="4297679"/>
            <a:ext cx="566928" cy="0"/>
          </a:xfrm>
          <a:prstGeom prst="line">
            <a:avLst/>
          </a:prstGeom>
          <a:ln w="25400">
            <a:solidFill>
              <a:srgbClr val="1D39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920240" y="4059935"/>
            <a:ext cx="1920240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BBF24"/>
                </a:solidFill>
                <a:latin typeface="Aptos"/>
              </a:rPr>
              <a:t>RANKING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68496" y="4059935"/>
            <a:ext cx="7059168" cy="41148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8FAFC"/>
                </a:solidFill>
                <a:latin typeface="Aptos"/>
              </a:rPr>
              <a:t>GROUP BY booster and ORDER BY success count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5047488"/>
            <a:ext cx="402336" cy="219456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2D3EE"/>
                </a:solidFill>
                <a:latin typeface="Aptos"/>
              </a:rPr>
              <a:t>05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188720" y="5193792"/>
            <a:ext cx="566928" cy="0"/>
          </a:xfrm>
          <a:prstGeom prst="line">
            <a:avLst/>
          </a:prstGeom>
          <a:ln w="25400">
            <a:solidFill>
              <a:srgbClr val="1D39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920240" y="4956048"/>
            <a:ext cx="1920240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BBF24"/>
                </a:solidFill>
                <a:latin typeface="Aptos"/>
              </a:rPr>
              <a:t>TIME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68496" y="4956048"/>
            <a:ext cx="7059168" cy="41148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8FAFC"/>
                </a:solidFill>
                <a:latin typeface="Aptos"/>
              </a:rPr>
              <a:t>Filter launch dates and compare historical periods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5916168"/>
            <a:ext cx="10753344" cy="393192"/>
          </a:xfrm>
          <a:prstGeom prst="roundRect">
            <a:avLst/>
          </a:prstGeom>
          <a:solidFill>
            <a:srgbClr val="1D3952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22960" y="5998464"/>
            <a:ext cx="10378440" cy="20116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Aptos"/>
              </a:rPr>
              <a:t>Pattern: SELECT → WHERE → GROUP BY → aggregate → ORDER BY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38912" y="6492240"/>
            <a:ext cx="11311128" cy="0"/>
          </a:xfrm>
          <a:prstGeom prst="line">
            <a:avLst/>
          </a:prstGeom>
          <a:ln w="12700">
            <a:solidFill>
              <a:srgbClr val="1D39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475488" y="6519672"/>
            <a:ext cx="3657600" cy="20116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AFC2D4"/>
                </a:solidFill>
                <a:latin typeface="Aptos"/>
              </a:rPr>
              <a:t>EDA with SQL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904D66F-38B7-33F0-FD8A-8D71E99390CE}"/>
              </a:ext>
            </a:extLst>
          </p:cNvPr>
          <p:cNvSpPr txBox="1"/>
          <p:nvPr/>
        </p:nvSpPr>
        <p:spPr>
          <a:xfrm>
            <a:off x="7589518" y="6527780"/>
            <a:ext cx="4157473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lang="en-US" sz="850" b="1" dirty="0">
                <a:solidFill>
                  <a:srgbClr val="22D3EE"/>
                </a:solidFill>
                <a:latin typeface="Aptos"/>
              </a:rPr>
              <a:t>GitHub  •  https://github.com/TurboMewCoin/IBM-Data-Science-Capstone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365760"/>
            <a:ext cx="438912" cy="32004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Aptos"/>
              </a:rPr>
              <a:t>11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38912" y="758952"/>
            <a:ext cx="521208" cy="0"/>
          </a:xfrm>
          <a:prstGeom prst="line">
            <a:avLst/>
          </a:prstGeom>
          <a:ln w="3175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97280" y="347472"/>
            <a:ext cx="384048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AFC2D4"/>
                </a:solidFill>
                <a:latin typeface="Aptos"/>
              </a:rPr>
              <a:t>SQL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66928"/>
            <a:ext cx="10607040" cy="56692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8FAFC"/>
                </a:solidFill>
                <a:latin typeface="Aptos"/>
              </a:rPr>
              <a:t>SQL results — exact summaries support the story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307592"/>
            <a:ext cx="10863072" cy="530352"/>
          </a:xfrm>
          <a:prstGeom prst="round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77824" y="1472184"/>
            <a:ext cx="2103120" cy="20116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071426"/>
                </a:solidFill>
                <a:latin typeface="Aptos"/>
              </a:rPr>
              <a:t>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54096" y="1472184"/>
            <a:ext cx="5870448" cy="20116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071426"/>
                </a:solidFill>
                <a:latin typeface="Aptos"/>
              </a:rPr>
              <a:t>RESULT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56105" y="1472184"/>
            <a:ext cx="314317" cy="227755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dirty="0">
                <a:solidFill>
                  <a:srgbClr val="071426"/>
                </a:solidFill>
                <a:latin typeface="Aptos"/>
              </a:rPr>
              <a:t>USE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920240"/>
            <a:ext cx="10863072" cy="630936"/>
          </a:xfrm>
          <a:prstGeom prst="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77824" y="2084832"/>
            <a:ext cx="2011680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2D3EE"/>
                </a:solidFill>
                <a:latin typeface="Aptos"/>
              </a:rPr>
              <a:t>Launch sites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54096" y="2048256"/>
            <a:ext cx="5715000" cy="36576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8FAFC"/>
                </a:solidFill>
                <a:latin typeface="Aptos"/>
              </a:rPr>
              <a:t>Four sites represented in the analytical dashboard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0" y="2066544"/>
            <a:ext cx="1700784" cy="329184"/>
          </a:xfrm>
          <a:prstGeom prst="roundRect">
            <a:avLst/>
          </a:prstGeom>
          <a:solidFill>
            <a:srgbClr val="1D3952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208008" y="2103120"/>
            <a:ext cx="1572768" cy="219456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AFC2D4"/>
                </a:solidFill>
                <a:latin typeface="Aptos"/>
              </a:rPr>
              <a:t>Coverage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688336"/>
            <a:ext cx="10863072" cy="630936"/>
          </a:xfrm>
          <a:prstGeom prst="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77824" y="2852928"/>
            <a:ext cx="2011680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2D3EE"/>
                </a:solidFill>
                <a:latin typeface="Aptos"/>
              </a:rPr>
              <a:t>Payloads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54096" y="2816352"/>
            <a:ext cx="5715000" cy="36576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8FAFC"/>
                </a:solidFill>
                <a:latin typeface="Aptos"/>
              </a:rPr>
              <a:t>Observed payload range extends to about 9,600 kg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2834640"/>
            <a:ext cx="1700784" cy="329184"/>
          </a:xfrm>
          <a:prstGeom prst="roundRect">
            <a:avLst/>
          </a:prstGeom>
          <a:solidFill>
            <a:srgbClr val="1D3952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208008" y="2871216"/>
            <a:ext cx="1572768" cy="219456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AFC2D4"/>
                </a:solidFill>
                <a:latin typeface="Aptos"/>
              </a:rPr>
              <a:t>Distribution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3456432"/>
            <a:ext cx="10863072" cy="630936"/>
          </a:xfrm>
          <a:prstGeom prst="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77824" y="3621024"/>
            <a:ext cx="2011680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2D3EE"/>
                </a:solidFill>
                <a:latin typeface="Aptos"/>
              </a:rPr>
              <a:t>Success rates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54096" y="3584448"/>
            <a:ext cx="5715000" cy="36576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8FAFC"/>
                </a:solidFill>
                <a:latin typeface="Aptos"/>
              </a:rPr>
              <a:t>KSC LC-39A: 76.9%  •  CCAFS LC-40: 73.1%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44000" y="3602736"/>
            <a:ext cx="1700784" cy="329184"/>
          </a:xfrm>
          <a:prstGeom prst="roundRect">
            <a:avLst/>
          </a:prstGeom>
          <a:solidFill>
            <a:srgbClr val="1D3952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208008" y="3639312"/>
            <a:ext cx="1572768" cy="219456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AFC2D4"/>
                </a:solidFill>
                <a:latin typeface="Aptos"/>
              </a:rPr>
              <a:t>Performance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4224528"/>
            <a:ext cx="10863072" cy="630936"/>
          </a:xfrm>
          <a:prstGeom prst="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77824" y="4389120"/>
            <a:ext cx="2011680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2D3EE"/>
                </a:solidFill>
                <a:latin typeface="Aptos"/>
              </a:rPr>
              <a:t>Ranking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54096" y="4352544"/>
            <a:ext cx="5715000" cy="36576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8FAFC"/>
                </a:solidFill>
                <a:latin typeface="Aptos"/>
              </a:rPr>
              <a:t>KSC LC-39A contributes the largest share of successes: 41.7%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44000" y="4370832"/>
            <a:ext cx="1700784" cy="329184"/>
          </a:xfrm>
          <a:prstGeom prst="roundRect">
            <a:avLst/>
          </a:prstGeom>
          <a:solidFill>
            <a:srgbClr val="1D3952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208008" y="4407408"/>
            <a:ext cx="1572768" cy="219456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AFC2D4"/>
                </a:solidFill>
                <a:latin typeface="Aptos"/>
              </a:rPr>
              <a:t>Ranking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4992624"/>
            <a:ext cx="10863072" cy="630936"/>
          </a:xfrm>
          <a:prstGeom prst="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77824" y="5157216"/>
            <a:ext cx="2011680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2D3EE"/>
                </a:solidFill>
                <a:latin typeface="Aptos"/>
              </a:rPr>
              <a:t>Time analysis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54096" y="5120640"/>
            <a:ext cx="5715000" cy="36576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8FAFC"/>
                </a:solidFill>
                <a:latin typeface="Aptos"/>
              </a:rPr>
              <a:t>Later launch sequences show stronger and more stable outcomes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44000" y="5138928"/>
            <a:ext cx="1700784" cy="329184"/>
          </a:xfrm>
          <a:prstGeom prst="roundRect">
            <a:avLst/>
          </a:prstGeom>
          <a:solidFill>
            <a:srgbClr val="1D3952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208008" y="5175504"/>
            <a:ext cx="1572768" cy="219456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AFC2D4"/>
                </a:solidFill>
                <a:latin typeface="Aptos"/>
              </a:rPr>
              <a:t>Trend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38912" y="6492240"/>
            <a:ext cx="11311128" cy="0"/>
          </a:xfrm>
          <a:prstGeom prst="line">
            <a:avLst/>
          </a:prstGeom>
          <a:ln w="12700">
            <a:solidFill>
              <a:srgbClr val="1D39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475488" y="6519672"/>
            <a:ext cx="3657600" cy="20116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AFC2D4"/>
                </a:solidFill>
                <a:latin typeface="Aptos"/>
              </a:rPr>
              <a:t>EDA with SQL results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1A2F016-BC15-6CB1-B8C8-52B6D79DE3C1}"/>
              </a:ext>
            </a:extLst>
          </p:cNvPr>
          <p:cNvSpPr txBox="1"/>
          <p:nvPr/>
        </p:nvSpPr>
        <p:spPr>
          <a:xfrm>
            <a:off x="7589518" y="6527780"/>
            <a:ext cx="4157473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lang="en-US" sz="850" b="1" dirty="0">
                <a:solidFill>
                  <a:srgbClr val="22D3EE"/>
                </a:solidFill>
                <a:latin typeface="Aptos"/>
              </a:rPr>
              <a:t>GitHub  •  https://github.com/TurboMewCoin/IBM-Data-Science-Capstone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365760"/>
            <a:ext cx="438912" cy="32004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Aptos"/>
              </a:rPr>
              <a:t>12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38912" y="758952"/>
            <a:ext cx="521208" cy="0"/>
          </a:xfrm>
          <a:prstGeom prst="line">
            <a:avLst/>
          </a:prstGeom>
          <a:ln w="3175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97280" y="347472"/>
            <a:ext cx="384048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AFC2D4"/>
                </a:solidFill>
                <a:latin typeface="Aptos"/>
              </a:rPr>
              <a:t>MAP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66928"/>
            <a:ext cx="10607040" cy="56692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8FAFC"/>
                </a:solidFill>
                <a:latin typeface="Aptos"/>
              </a:rPr>
              <a:t>Interactive geospatial analytics with Folium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335024"/>
            <a:ext cx="6876288" cy="4498848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41832" y="1655064"/>
            <a:ext cx="164592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Aptos"/>
              </a:rPr>
              <a:t>MAP LAYERS</a:t>
            </a:r>
          </a:p>
        </p:txBody>
      </p:sp>
      <p:sp>
        <p:nvSpPr>
          <p:cNvPr id="8" name="Oval 7"/>
          <p:cNvSpPr/>
          <p:nvPr/>
        </p:nvSpPr>
        <p:spPr>
          <a:xfrm>
            <a:off x="950976" y="2084831"/>
            <a:ext cx="347472" cy="347472"/>
          </a:xfrm>
          <a:prstGeom prst="ellipse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50976" y="2167127"/>
            <a:ext cx="347472" cy="15544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071426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66543"/>
            <a:ext cx="1874519" cy="24688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Launch sites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9584" y="2066543"/>
            <a:ext cx="3474720" cy="32918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FC2D4"/>
                </a:solidFill>
                <a:latin typeface="Aptos"/>
              </a:rPr>
              <a:t>Circle markers + labels</a:t>
            </a:r>
          </a:p>
        </p:txBody>
      </p:sp>
      <p:sp>
        <p:nvSpPr>
          <p:cNvPr id="12" name="Oval 11"/>
          <p:cNvSpPr/>
          <p:nvPr/>
        </p:nvSpPr>
        <p:spPr>
          <a:xfrm>
            <a:off x="950976" y="2889503"/>
            <a:ext cx="347472" cy="347472"/>
          </a:xfrm>
          <a:prstGeom prst="ellipse">
            <a:avLst/>
          </a:prstGeom>
          <a:solidFill>
            <a:srgbClr val="20C997"/>
          </a:solidFill>
          <a:ln>
            <a:solidFill>
              <a:srgbClr val="20C9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50976" y="2971799"/>
            <a:ext cx="347472" cy="15544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071426"/>
                </a:solidFill>
                <a:latin typeface="Apto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871215"/>
            <a:ext cx="1874519" cy="24688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Launch records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9584" y="2871215"/>
            <a:ext cx="3474720" cy="32918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FC2D4"/>
                </a:solidFill>
                <a:latin typeface="Aptos"/>
              </a:rPr>
              <a:t>Green success / red failure markers</a:t>
            </a:r>
          </a:p>
        </p:txBody>
      </p:sp>
      <p:sp>
        <p:nvSpPr>
          <p:cNvPr id="16" name="Oval 15"/>
          <p:cNvSpPr/>
          <p:nvPr/>
        </p:nvSpPr>
        <p:spPr>
          <a:xfrm>
            <a:off x="950976" y="3694176"/>
            <a:ext cx="347472" cy="347472"/>
          </a:xfrm>
          <a:prstGeom prst="ellipse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50976" y="3776472"/>
            <a:ext cx="347472" cy="15544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071426"/>
                </a:solidFill>
                <a:latin typeface="Apto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675888"/>
            <a:ext cx="1874519" cy="24688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Clusters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9584" y="3675888"/>
            <a:ext cx="3474720" cy="32918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FC2D4"/>
                </a:solidFill>
                <a:latin typeface="Aptos"/>
              </a:rPr>
              <a:t>MarkerCluster for overlapping launches</a:t>
            </a:r>
          </a:p>
        </p:txBody>
      </p:sp>
      <p:sp>
        <p:nvSpPr>
          <p:cNvPr id="20" name="Oval 19"/>
          <p:cNvSpPr/>
          <p:nvPr/>
        </p:nvSpPr>
        <p:spPr>
          <a:xfrm>
            <a:off x="950976" y="4498848"/>
            <a:ext cx="347472" cy="347472"/>
          </a:xfrm>
          <a:prstGeom prst="ellipse">
            <a:avLst/>
          </a:prstGeom>
          <a:solidFill>
            <a:srgbClr val="FF6B6B"/>
          </a:solidFill>
          <a:ln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50976" y="4581144"/>
            <a:ext cx="347472" cy="15544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071426"/>
                </a:solidFill>
                <a:latin typeface="Apto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480560"/>
            <a:ext cx="1874519" cy="24688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Proximity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9584" y="4480560"/>
            <a:ext cx="3474720" cy="32918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AFC2D4"/>
                </a:solidFill>
                <a:latin typeface="Aptos"/>
              </a:rPr>
              <a:t>MousePosition + distance lines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90688" y="1335024"/>
            <a:ext cx="3730752" cy="4498848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083296" y="1655064"/>
            <a:ext cx="246888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BBF24"/>
                </a:solidFill>
                <a:latin typeface="Aptos"/>
              </a:rPr>
              <a:t>PROXIMITY TESTS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229600" y="2322576"/>
            <a:ext cx="502920" cy="0"/>
          </a:xfrm>
          <a:prstGeom prst="line">
            <a:avLst/>
          </a:prstGeom>
          <a:ln w="5080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979408" y="2212848"/>
            <a:ext cx="2057400" cy="29260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Coastline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229600" y="2980944"/>
            <a:ext cx="502920" cy="0"/>
          </a:xfrm>
          <a:prstGeom prst="line">
            <a:avLst/>
          </a:prstGeom>
          <a:ln w="50800">
            <a:solidFill>
              <a:srgbClr val="FBBF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979408" y="2871215"/>
            <a:ext cx="2057400" cy="29260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Road network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229600" y="3639312"/>
            <a:ext cx="502920" cy="0"/>
          </a:xfrm>
          <a:prstGeom prst="line">
            <a:avLst/>
          </a:prstGeom>
          <a:ln w="50800">
            <a:solidFill>
              <a:srgbClr val="FF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979408" y="3529584"/>
            <a:ext cx="2057400" cy="29260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Railway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229600" y="4297680"/>
            <a:ext cx="502920" cy="0"/>
          </a:xfrm>
          <a:prstGeom prst="line">
            <a:avLst/>
          </a:prstGeom>
          <a:ln w="50800">
            <a:solidFill>
              <a:srgbClr val="20C9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8979408" y="4187952"/>
            <a:ext cx="2057400" cy="29260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City / population center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83295" y="5001768"/>
            <a:ext cx="3100519" cy="47397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>
                <a:solidFill>
                  <a:srgbClr val="AFC2D4"/>
                </a:solidFill>
                <a:latin typeface="Aptos"/>
              </a:rPr>
              <a:t>Goal: explain why launch facilities occupy their specific geography.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38912" y="6492240"/>
            <a:ext cx="11311128" cy="0"/>
          </a:xfrm>
          <a:prstGeom prst="line">
            <a:avLst/>
          </a:prstGeom>
          <a:ln w="12700">
            <a:solidFill>
              <a:srgbClr val="1D39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475488" y="6519672"/>
            <a:ext cx="3657600" cy="20116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AFC2D4"/>
                </a:solidFill>
                <a:latin typeface="Aptos"/>
              </a:rPr>
              <a:t>Interactive maps — Folium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94E23E8-373E-3330-8BBD-24CBBC96DF8D}"/>
              </a:ext>
            </a:extLst>
          </p:cNvPr>
          <p:cNvSpPr txBox="1"/>
          <p:nvPr/>
        </p:nvSpPr>
        <p:spPr>
          <a:xfrm>
            <a:off x="7589518" y="6527780"/>
            <a:ext cx="4157473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lang="en-US" sz="850" b="1" dirty="0">
                <a:solidFill>
                  <a:srgbClr val="22D3EE"/>
                </a:solidFill>
                <a:latin typeface="Aptos"/>
              </a:rPr>
              <a:t>GitHub  •  https://github.com/TurboMewCoin/IBM-Data-Science-Capstone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365760"/>
            <a:ext cx="438912" cy="32004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Aptos"/>
              </a:rPr>
              <a:t>13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38912" y="758952"/>
            <a:ext cx="521208" cy="0"/>
          </a:xfrm>
          <a:prstGeom prst="line">
            <a:avLst/>
          </a:prstGeom>
          <a:ln w="3175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97280" y="347472"/>
            <a:ext cx="384048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AFC2D4"/>
                </a:solidFill>
                <a:latin typeface="Aptos"/>
              </a:rPr>
              <a:t>MAP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66928"/>
            <a:ext cx="10607040" cy="56692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8FAFC"/>
                </a:solidFill>
                <a:latin typeface="Aptos"/>
              </a:rPr>
              <a:t>Folium results — coastal sites and controlled access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298448"/>
            <a:ext cx="6766560" cy="4553712"/>
          </a:xfrm>
          <a:prstGeom prst="roundRect">
            <a:avLst/>
          </a:prstGeom>
          <a:solidFill>
            <a:srgbClr val="0A2840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" name="Connector 6"/>
          <p:cNvCxnSpPr/>
          <p:nvPr/>
        </p:nvCxnSpPr>
        <p:spPr>
          <a:xfrm>
            <a:off x="2852928" y="1627632"/>
            <a:ext cx="310896" cy="521208"/>
          </a:xfrm>
          <a:prstGeom prst="line">
            <a:avLst/>
          </a:prstGeom>
          <a:ln w="5080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3017520" y="2148840"/>
            <a:ext cx="146304" cy="704088"/>
          </a:xfrm>
          <a:prstGeom prst="line">
            <a:avLst/>
          </a:prstGeom>
          <a:ln w="5080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017520" y="2852928"/>
            <a:ext cx="475488" cy="914400"/>
          </a:xfrm>
          <a:prstGeom prst="line">
            <a:avLst/>
          </a:prstGeom>
          <a:ln w="5080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3182112" y="3767328"/>
            <a:ext cx="310896" cy="1517904"/>
          </a:xfrm>
          <a:prstGeom prst="line">
            <a:avLst/>
          </a:prstGeom>
          <a:ln w="5080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5742432" y="1572768"/>
            <a:ext cx="402336" cy="694944"/>
          </a:xfrm>
          <a:prstGeom prst="line">
            <a:avLst/>
          </a:prstGeom>
          <a:ln w="5080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5504688" y="2267712"/>
            <a:ext cx="237744" cy="1097280"/>
          </a:xfrm>
          <a:prstGeom prst="line">
            <a:avLst/>
          </a:prstGeom>
          <a:ln w="5080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5102352" y="3364992"/>
            <a:ext cx="402336" cy="2029968"/>
          </a:xfrm>
          <a:prstGeom prst="line">
            <a:avLst/>
          </a:prstGeom>
          <a:ln w="5080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3054096" y="2743200"/>
            <a:ext cx="274320" cy="274320"/>
          </a:xfrm>
          <a:prstGeom prst="ellipse">
            <a:avLst/>
          </a:prstGeom>
          <a:solidFill>
            <a:srgbClr val="FBBF24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419856" y="2715768"/>
            <a:ext cx="1572768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8FAFC"/>
                </a:solidFill>
                <a:latin typeface="Aptos"/>
              </a:rPr>
              <a:t>KSC LC-39A</a:t>
            </a:r>
          </a:p>
        </p:txBody>
      </p:sp>
      <p:sp>
        <p:nvSpPr>
          <p:cNvPr id="16" name="Oval 15"/>
          <p:cNvSpPr/>
          <p:nvPr/>
        </p:nvSpPr>
        <p:spPr>
          <a:xfrm>
            <a:off x="3264408" y="3273552"/>
            <a:ext cx="274320" cy="274320"/>
          </a:xfrm>
          <a:prstGeom prst="ellipse">
            <a:avLst/>
          </a:prstGeom>
          <a:solidFill>
            <a:srgbClr val="20C997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630168" y="3246120"/>
            <a:ext cx="1572768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8FAFC"/>
                </a:solidFill>
                <a:latin typeface="Aptos"/>
              </a:rPr>
              <a:t>CCAFS LC-40</a:t>
            </a:r>
          </a:p>
        </p:txBody>
      </p:sp>
      <p:sp>
        <p:nvSpPr>
          <p:cNvPr id="18" name="Oval 17"/>
          <p:cNvSpPr/>
          <p:nvPr/>
        </p:nvSpPr>
        <p:spPr>
          <a:xfrm>
            <a:off x="2907792" y="3529584"/>
            <a:ext cx="274320" cy="274320"/>
          </a:xfrm>
          <a:prstGeom prst="ellipse">
            <a:avLst/>
          </a:prstGeom>
          <a:solidFill>
            <a:srgbClr val="3B82F6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273552" y="3502152"/>
            <a:ext cx="1572768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8FAFC"/>
                </a:solidFill>
                <a:latin typeface="Aptos"/>
              </a:rPr>
              <a:t>CCAFS SLC-40</a:t>
            </a:r>
          </a:p>
        </p:txBody>
      </p:sp>
      <p:sp>
        <p:nvSpPr>
          <p:cNvPr id="20" name="Oval 19"/>
          <p:cNvSpPr/>
          <p:nvPr/>
        </p:nvSpPr>
        <p:spPr>
          <a:xfrm>
            <a:off x="5285232" y="3986784"/>
            <a:ext cx="274320" cy="274320"/>
          </a:xfrm>
          <a:prstGeom prst="ellipse">
            <a:avLst/>
          </a:prstGeom>
          <a:solidFill>
            <a:srgbClr val="FF6B6B"/>
          </a:solidFill>
          <a:ln>
            <a:solidFill>
              <a:srgbClr val="F8FA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650992" y="3959352"/>
            <a:ext cx="1572768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8FAFC"/>
                </a:solidFill>
                <a:latin typeface="Aptos"/>
              </a:rPr>
              <a:t>VAFB SLC-4E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93392" y="5413248"/>
            <a:ext cx="1051560" cy="219456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AFC2D4"/>
                </a:solidFill>
                <a:latin typeface="Aptos"/>
              </a:rPr>
              <a:t>Florida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36592" y="5413248"/>
            <a:ext cx="1234440" cy="219456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AFC2D4"/>
                </a:solidFill>
                <a:latin typeface="Aptos"/>
              </a:rPr>
              <a:t>California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99248" y="1298448"/>
            <a:ext cx="3822191" cy="4553712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982712" y="1664208"/>
            <a:ext cx="2944368" cy="27432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2D3EE"/>
                </a:solidFill>
                <a:latin typeface="Aptos"/>
              </a:rPr>
              <a:t>Key geographic findings</a:t>
            </a:r>
          </a:p>
        </p:txBody>
      </p:sp>
      <p:sp>
        <p:nvSpPr>
          <p:cNvPr id="26" name="Oval 25"/>
          <p:cNvSpPr/>
          <p:nvPr/>
        </p:nvSpPr>
        <p:spPr>
          <a:xfrm>
            <a:off x="7982712" y="2322576"/>
            <a:ext cx="100584" cy="100584"/>
          </a:xfrm>
          <a:prstGeom prst="ellipse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183880" y="2249424"/>
            <a:ext cx="3044952" cy="50475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dirty="0">
                <a:solidFill>
                  <a:srgbClr val="F8FAFC"/>
                </a:solidFill>
                <a:latin typeface="Aptos"/>
              </a:rPr>
              <a:t>All sites are positioned near a coastline</a:t>
            </a:r>
          </a:p>
        </p:txBody>
      </p:sp>
      <p:sp>
        <p:nvSpPr>
          <p:cNvPr id="28" name="Oval 27"/>
          <p:cNvSpPr/>
          <p:nvPr/>
        </p:nvSpPr>
        <p:spPr>
          <a:xfrm>
            <a:off x="7982712" y="2862072"/>
            <a:ext cx="100584" cy="100584"/>
          </a:xfrm>
          <a:prstGeom prst="ellipse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183880" y="2788920"/>
            <a:ext cx="3083888" cy="50475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dirty="0">
                <a:solidFill>
                  <a:srgbClr val="F8FAFC"/>
                </a:solidFill>
                <a:latin typeface="Aptos"/>
              </a:rPr>
              <a:t>Transport infrastructure supports logistics</a:t>
            </a:r>
          </a:p>
        </p:txBody>
      </p:sp>
      <p:sp>
        <p:nvSpPr>
          <p:cNvPr id="30" name="Oval 29"/>
          <p:cNvSpPr/>
          <p:nvPr/>
        </p:nvSpPr>
        <p:spPr>
          <a:xfrm>
            <a:off x="7982712" y="3401568"/>
            <a:ext cx="100584" cy="100584"/>
          </a:xfrm>
          <a:prstGeom prst="ellipse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183880" y="3328415"/>
            <a:ext cx="3083888" cy="50475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dirty="0">
                <a:solidFill>
                  <a:srgbClr val="F8FAFC"/>
                </a:solidFill>
                <a:latin typeface="Aptos"/>
              </a:rPr>
              <a:t>Launch areas remain separated from dense cities</a:t>
            </a:r>
          </a:p>
        </p:txBody>
      </p:sp>
      <p:sp>
        <p:nvSpPr>
          <p:cNvPr id="32" name="Oval 31"/>
          <p:cNvSpPr/>
          <p:nvPr/>
        </p:nvSpPr>
        <p:spPr>
          <a:xfrm>
            <a:off x="7982712" y="3941064"/>
            <a:ext cx="100584" cy="100584"/>
          </a:xfrm>
          <a:prstGeom prst="ellipse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183880" y="3867912"/>
            <a:ext cx="3083888" cy="50475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dirty="0">
                <a:solidFill>
                  <a:srgbClr val="F8FAFC"/>
                </a:solidFill>
                <a:latin typeface="Aptos"/>
              </a:rPr>
              <a:t>Clusters reveal repeated operations at the same pads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82712" y="4828032"/>
            <a:ext cx="3054096" cy="640080"/>
          </a:xfrm>
          <a:prstGeom prst="roundRect">
            <a:avLst/>
          </a:prstGeom>
          <a:solidFill>
            <a:srgbClr val="1D3952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119872" y="4956048"/>
            <a:ext cx="2807208" cy="412421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dirty="0">
                <a:solidFill>
                  <a:srgbClr val="F8FAFC"/>
                </a:solidFill>
                <a:latin typeface="Aptos"/>
              </a:rPr>
              <a:t>Operational logic: access + safety + ocean corridor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438912" y="6492240"/>
            <a:ext cx="11311128" cy="0"/>
          </a:xfrm>
          <a:prstGeom prst="line">
            <a:avLst/>
          </a:prstGeom>
          <a:ln w="12700">
            <a:solidFill>
              <a:srgbClr val="1D39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475488" y="6519672"/>
            <a:ext cx="3657600" cy="20116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AFC2D4"/>
                </a:solidFill>
                <a:latin typeface="Aptos"/>
              </a:rPr>
              <a:t>Folium result summary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2226CBE-A34F-0CEB-0304-45BB596752E1}"/>
              </a:ext>
            </a:extLst>
          </p:cNvPr>
          <p:cNvSpPr txBox="1"/>
          <p:nvPr/>
        </p:nvSpPr>
        <p:spPr>
          <a:xfrm>
            <a:off x="7589518" y="6527780"/>
            <a:ext cx="4157473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lang="en-US" sz="850" b="1" dirty="0">
                <a:solidFill>
                  <a:srgbClr val="22D3EE"/>
                </a:solidFill>
                <a:latin typeface="Aptos"/>
              </a:rPr>
              <a:t>GitHub  •  https://github.com/TurboMewCoin/IBM-Data-Science-Capstone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365760"/>
            <a:ext cx="438912" cy="32004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Aptos"/>
              </a:rPr>
              <a:t>14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38912" y="758952"/>
            <a:ext cx="521208" cy="0"/>
          </a:xfrm>
          <a:prstGeom prst="line">
            <a:avLst/>
          </a:prstGeom>
          <a:ln w="3175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97280" y="347472"/>
            <a:ext cx="384048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AFC2D4"/>
                </a:solidFill>
                <a:latin typeface="Aptos"/>
              </a:rPr>
              <a:t>DASHBOARD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66928"/>
            <a:ext cx="10607040" cy="56692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8FAFC"/>
                </a:solidFill>
                <a:latin typeface="Aptos"/>
              </a:rPr>
              <a:t>Plotly Dash — turning analysis into an interface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371600"/>
            <a:ext cx="3054096" cy="4498848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32688" y="1682496"/>
            <a:ext cx="109728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Aptos"/>
              </a:rPr>
              <a:t>INPUTS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32688" y="2139696"/>
            <a:ext cx="2487168" cy="329184"/>
          </a:xfrm>
          <a:prstGeom prst="round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96696" y="2176272"/>
            <a:ext cx="2359152" cy="219456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8FAFC"/>
                </a:solidFill>
                <a:latin typeface="Aptos"/>
              </a:rPr>
              <a:t>Launch-site dropdown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2688" y="2715768"/>
            <a:ext cx="2487168" cy="329184"/>
          </a:xfrm>
          <a:prstGeom prst="roundRect">
            <a:avLst/>
          </a:prstGeom>
          <a:solidFill>
            <a:srgbClr val="FF6B6B"/>
          </a:solidFill>
          <a:ln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96696" y="2752344"/>
            <a:ext cx="2359152" cy="219456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8FAFC"/>
                </a:solidFill>
                <a:latin typeface="Aptos"/>
              </a:rPr>
              <a:t>Payload range slider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3493008"/>
            <a:ext cx="155448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BBF24"/>
                </a:solidFill>
                <a:latin typeface="Aptos"/>
              </a:rPr>
              <a:t>USER ACTION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3922776"/>
            <a:ext cx="2487168" cy="597087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dirty="0">
                <a:solidFill>
                  <a:srgbClr val="F8FAFC"/>
                </a:solidFill>
                <a:latin typeface="Aptos"/>
              </a:rPr>
              <a:t>Select a site and constrain payload mass.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822191" y="3557016"/>
            <a:ext cx="795529" cy="0"/>
          </a:xfrm>
          <a:prstGeom prst="line">
            <a:avLst/>
          </a:prstGeom>
          <a:ln w="3810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4736592" y="1371600"/>
            <a:ext cx="3054096" cy="4498848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10912" y="1682496"/>
            <a:ext cx="137160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Aptos"/>
              </a:rPr>
              <a:t>CALLBACKS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10912" y="2157984"/>
            <a:ext cx="2432304" cy="858697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dirty="0">
                <a:solidFill>
                  <a:srgbClr val="F8FAFC"/>
                </a:solidFill>
                <a:latin typeface="Aptos"/>
              </a:rPr>
              <a:t>Input values trigger filters on the shared </a:t>
            </a:r>
            <a:r>
              <a:rPr sz="1700" b="1" dirty="0" err="1">
                <a:solidFill>
                  <a:srgbClr val="F8FAFC"/>
                </a:solidFill>
                <a:latin typeface="Aptos"/>
              </a:rPr>
              <a:t>DataFrame</a:t>
            </a:r>
            <a:r>
              <a:rPr sz="1700" b="1" dirty="0">
                <a:solidFill>
                  <a:srgbClr val="F8FAFC"/>
                </a:solidFill>
                <a:latin typeface="Aptos"/>
              </a:rPr>
              <a:t>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10912" y="3310128"/>
            <a:ext cx="2432304" cy="720197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dirty="0">
                <a:solidFill>
                  <a:srgbClr val="AFC2D4"/>
                </a:solidFill>
                <a:latin typeface="Aptos"/>
              </a:rPr>
              <a:t>Output(..., “figure”) routes each result to the matching graph ID.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918704" y="3557016"/>
            <a:ext cx="786384" cy="0"/>
          </a:xfrm>
          <a:prstGeom prst="line">
            <a:avLst/>
          </a:prstGeom>
          <a:ln w="3810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833104" y="1371600"/>
            <a:ext cx="2688336" cy="4498848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07424" y="1682496"/>
            <a:ext cx="137160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Aptos"/>
              </a:rPr>
              <a:t>OUTPUTS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07424" y="2139696"/>
            <a:ext cx="2139696" cy="329184"/>
          </a:xfrm>
          <a:prstGeom prst="roundRect">
            <a:avLst/>
          </a:prstGeom>
          <a:solidFill>
            <a:srgbClr val="20C997"/>
          </a:solidFill>
          <a:ln>
            <a:solidFill>
              <a:srgbClr val="20C9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71432" y="2176272"/>
            <a:ext cx="2011679" cy="219456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8FAFC"/>
                </a:solidFill>
                <a:latin typeface="Aptos"/>
              </a:rPr>
              <a:t>Success pie chart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07424" y="2715768"/>
            <a:ext cx="2139696" cy="329184"/>
          </a:xfrm>
          <a:prstGeom prst="roundRect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171432" y="2752344"/>
            <a:ext cx="2011679" cy="219456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8FAFC"/>
                </a:solidFill>
                <a:latin typeface="Aptos"/>
              </a:rPr>
              <a:t>Payload scatter plot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07424" y="3657600"/>
            <a:ext cx="2151888" cy="597087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dirty="0">
                <a:solidFill>
                  <a:srgbClr val="F8FAFC"/>
                </a:solidFill>
                <a:latin typeface="Aptos"/>
              </a:rPr>
              <a:t>Interactive evidence updates in real time.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38912" y="6492240"/>
            <a:ext cx="11311128" cy="0"/>
          </a:xfrm>
          <a:prstGeom prst="line">
            <a:avLst/>
          </a:prstGeom>
          <a:ln w="12700">
            <a:solidFill>
              <a:srgbClr val="1D39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75488" y="6519672"/>
            <a:ext cx="3657600" cy="20116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AFC2D4"/>
                </a:solidFill>
                <a:latin typeface="Aptos"/>
              </a:rPr>
              <a:t>Interactive dashboard — Plotly Dash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B2159C3-FCC4-095A-BEA2-D249209406A6}"/>
              </a:ext>
            </a:extLst>
          </p:cNvPr>
          <p:cNvSpPr txBox="1"/>
          <p:nvPr/>
        </p:nvSpPr>
        <p:spPr>
          <a:xfrm>
            <a:off x="7589518" y="6527780"/>
            <a:ext cx="4157473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lang="en-US" sz="850" b="1" dirty="0">
                <a:solidFill>
                  <a:srgbClr val="22D3EE"/>
                </a:solidFill>
                <a:latin typeface="Aptos"/>
              </a:rPr>
              <a:t>GitHub  •  https://github.com/TurboMewCoin/IBM-Data-Science-Capstone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365760"/>
            <a:ext cx="438912" cy="32004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Aptos"/>
              </a:rPr>
              <a:t>15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38912" y="758952"/>
            <a:ext cx="521208" cy="0"/>
          </a:xfrm>
          <a:prstGeom prst="line">
            <a:avLst/>
          </a:prstGeom>
          <a:ln w="3175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97280" y="347472"/>
            <a:ext cx="384048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AFC2D4"/>
                </a:solidFill>
                <a:latin typeface="Aptos"/>
              </a:rPr>
              <a:t>DASHBOARD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66928"/>
            <a:ext cx="10607040" cy="56692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8FAFC"/>
                </a:solidFill>
                <a:latin typeface="Aptos"/>
              </a:rPr>
              <a:t>Dash results — site and payload filters work together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61872"/>
            <a:ext cx="7178040" cy="4361688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61a4b582-ddbe-4d3a-a6a1-f7ab1c8a07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52330"/>
            <a:ext cx="7178040" cy="398077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927848" y="1261872"/>
            <a:ext cx="3639312" cy="4361688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193024" y="1609344"/>
            <a:ext cx="2514600" cy="27432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2D3EE"/>
                </a:solidFill>
                <a:latin typeface="Aptos"/>
              </a:rPr>
              <a:t>Observed insights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93024" y="2103120"/>
            <a:ext cx="2926080" cy="1005840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302752" y="2212848"/>
            <a:ext cx="2706624" cy="36576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BBF24"/>
                </a:solidFill>
                <a:latin typeface="Aptos"/>
              </a:rPr>
              <a:t>41.7%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02752" y="2633472"/>
            <a:ext cx="2706624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AFC2D4"/>
                </a:solidFill>
                <a:latin typeface="Aptos"/>
              </a:rPr>
              <a:t>share of all successes at KSC LC-39A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93024" y="3328416"/>
            <a:ext cx="2926080" cy="1005840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02752" y="3438144"/>
            <a:ext cx="2706624" cy="36576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0C997"/>
                </a:solidFill>
                <a:latin typeface="Aptos"/>
              </a:rPr>
              <a:t>76.9%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02752" y="3858768"/>
            <a:ext cx="2706624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AFC2D4"/>
                </a:solidFill>
                <a:latin typeface="Aptos"/>
              </a:rPr>
              <a:t>KSC LC-39A success rate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93024" y="4690872"/>
            <a:ext cx="2926080" cy="62786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dirty="0">
                <a:solidFill>
                  <a:srgbClr val="AFC2D4"/>
                </a:solidFill>
                <a:latin typeface="Aptos"/>
              </a:rPr>
              <a:t>The payload slider removes out-of-range missions; the site dropdown updates both visuals through callbacks.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38912" y="6492240"/>
            <a:ext cx="11311128" cy="0"/>
          </a:xfrm>
          <a:prstGeom prst="line">
            <a:avLst/>
          </a:prstGeom>
          <a:ln w="12700">
            <a:solidFill>
              <a:srgbClr val="1D39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75488" y="6519672"/>
            <a:ext cx="3657600" cy="20116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AFC2D4"/>
                </a:solidFill>
                <a:latin typeface="Aptos"/>
              </a:rPr>
              <a:t>Plotly Dash result evidence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261B28E-3622-D090-8DFD-2CD0F838F481}"/>
              </a:ext>
            </a:extLst>
          </p:cNvPr>
          <p:cNvSpPr txBox="1"/>
          <p:nvPr/>
        </p:nvSpPr>
        <p:spPr>
          <a:xfrm>
            <a:off x="7589518" y="6527780"/>
            <a:ext cx="4157473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lang="en-US" sz="850" b="1" dirty="0">
                <a:solidFill>
                  <a:srgbClr val="22D3EE"/>
                </a:solidFill>
                <a:latin typeface="Aptos"/>
              </a:rPr>
              <a:t>GitHub  •  https://github.com/TurboMewCoin/IBM-Data-Science-Capstone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365760"/>
            <a:ext cx="438912" cy="32004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Aptos"/>
              </a:rPr>
              <a:t>16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38912" y="758952"/>
            <a:ext cx="521208" cy="0"/>
          </a:xfrm>
          <a:prstGeom prst="line">
            <a:avLst/>
          </a:prstGeom>
          <a:ln w="3175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97280" y="347472"/>
            <a:ext cx="384048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AFC2D4"/>
                </a:solidFill>
                <a:latin typeface="Aptos"/>
              </a:rPr>
              <a:t>CLASSIFICATION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66928"/>
            <a:ext cx="10607040" cy="56692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8FAFC"/>
                </a:solidFill>
                <a:latin typeface="Aptos"/>
              </a:rPr>
              <a:t>Predictive analysis — fair model comparison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389888"/>
            <a:ext cx="2514600" cy="1572768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95528" y="1645920"/>
            <a:ext cx="2084831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B82F6"/>
                </a:solidFill>
                <a:latin typeface="Aptos"/>
              </a:rPr>
              <a:t>SPLIT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2048256"/>
            <a:ext cx="2084831" cy="64008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80% train / 20% test</a:t>
            </a:r>
          </a:p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random_state = 2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108960" y="2176272"/>
            <a:ext cx="283464" cy="0"/>
          </a:xfrm>
          <a:prstGeom prst="line">
            <a:avLst/>
          </a:prstGeom>
          <a:ln w="3175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447288" y="1389888"/>
            <a:ext cx="2514600" cy="1572768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648456" y="1645920"/>
            <a:ext cx="2084831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2D3EE"/>
                </a:solidFill>
                <a:latin typeface="Aptos"/>
              </a:rPr>
              <a:t>STANDARDIZE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48456" y="2048256"/>
            <a:ext cx="2084831" cy="64008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Fit scaling on X</a:t>
            </a:r>
          </a:p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reassign transformed X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961888" y="2176272"/>
            <a:ext cx="283464" cy="0"/>
          </a:xfrm>
          <a:prstGeom prst="line">
            <a:avLst/>
          </a:prstGeom>
          <a:ln w="3175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300216" y="1389888"/>
            <a:ext cx="2514600" cy="1572768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01384" y="1645920"/>
            <a:ext cx="2084831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BBF24"/>
                </a:solidFill>
                <a:latin typeface="Aptos"/>
              </a:rPr>
              <a:t>TUNE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1384" y="2048256"/>
            <a:ext cx="2084831" cy="64008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GridSearchCV</a:t>
            </a:r>
          </a:p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10-fold CV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814816" y="2176272"/>
            <a:ext cx="283464" cy="0"/>
          </a:xfrm>
          <a:prstGeom prst="line">
            <a:avLst/>
          </a:prstGeom>
          <a:ln w="3175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9153144" y="1389888"/>
            <a:ext cx="2514600" cy="1572768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354312" y="1645920"/>
            <a:ext cx="2084831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6B6B"/>
                </a:solidFill>
                <a:latin typeface="Aptos"/>
              </a:rPr>
              <a:t>EVALUATE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54312" y="2048256"/>
            <a:ext cx="2084831" cy="64008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Holdout accuracy</a:t>
            </a:r>
          </a:p>
          <a:p>
            <a:pPr algn="l">
              <a:lnSpc>
                <a:spcPct val="100000"/>
              </a:lnSpc>
            </a:pPr>
            <a:r>
              <a:rPr sz="1400" b="1">
                <a:solidFill>
                  <a:srgbClr val="F8FAFC"/>
                </a:solidFill>
                <a:latin typeface="Aptos"/>
              </a:rPr>
              <a:t>confusion matrix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493008"/>
            <a:ext cx="1920240" cy="27432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2D3EE"/>
                </a:solidFill>
                <a:latin typeface="Aptos"/>
              </a:rPr>
              <a:t>Models evaluated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3913632"/>
            <a:ext cx="5230368" cy="722376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822959" y="4096512"/>
            <a:ext cx="310896" cy="310896"/>
          </a:xfrm>
          <a:prstGeom prst="ellipse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316736" y="4032504"/>
            <a:ext cx="242316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8FAFC"/>
                </a:solidFill>
                <a:latin typeface="Aptos"/>
              </a:rPr>
              <a:t>Logistic Regression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38728" y="4050792"/>
            <a:ext cx="1993392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AFC2D4"/>
                </a:solidFill>
                <a:latin typeface="Aptos"/>
              </a:rPr>
              <a:t>C · penalty · solver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63055" y="3913632"/>
            <a:ext cx="5230368" cy="722376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6327647" y="4096512"/>
            <a:ext cx="310896" cy="310896"/>
          </a:xfrm>
          <a:prstGeom prst="ellipse">
            <a:avLst/>
          </a:prstGeom>
          <a:solidFill>
            <a:srgbClr val="22D3EE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821423" y="4032504"/>
            <a:ext cx="242316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8FAFC"/>
                </a:solidFill>
                <a:latin typeface="Aptos"/>
              </a:rPr>
              <a:t>Support Vector Machine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43415" y="4050792"/>
            <a:ext cx="1993392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AFC2D4"/>
                </a:solidFill>
                <a:latin typeface="Aptos"/>
              </a:rPr>
              <a:t>C · gamma · kernel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4846320"/>
            <a:ext cx="5230368" cy="722376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822959" y="5029200"/>
            <a:ext cx="310896" cy="310896"/>
          </a:xfrm>
          <a:prstGeom prst="ellipse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316736" y="4965192"/>
            <a:ext cx="242316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8FAFC"/>
                </a:solidFill>
                <a:latin typeface="Aptos"/>
              </a:rPr>
              <a:t>Decision Tree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38728" y="4983480"/>
            <a:ext cx="1993392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AFC2D4"/>
                </a:solidFill>
                <a:latin typeface="Aptos"/>
              </a:rPr>
              <a:t>depth · split · features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63055" y="4846320"/>
            <a:ext cx="5230368" cy="722376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6327647" y="5029200"/>
            <a:ext cx="310896" cy="310896"/>
          </a:xfrm>
          <a:prstGeom prst="ellipse">
            <a:avLst/>
          </a:prstGeom>
          <a:solidFill>
            <a:srgbClr val="20C997"/>
          </a:solidFill>
          <a:ln>
            <a:solidFill>
              <a:srgbClr val="20C9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821423" y="4965192"/>
            <a:ext cx="242316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8FAFC"/>
                </a:solidFill>
                <a:latin typeface="Aptos"/>
              </a:rPr>
              <a:t>K-Nearest Neighbors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43415" y="4983480"/>
            <a:ext cx="1993392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AFC2D4"/>
                </a:solidFill>
                <a:latin typeface="Aptos"/>
              </a:rPr>
              <a:t>neighbors · algorithm · p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438912" y="6492240"/>
            <a:ext cx="11311128" cy="0"/>
          </a:xfrm>
          <a:prstGeom prst="line">
            <a:avLst/>
          </a:prstGeom>
          <a:ln w="12700">
            <a:solidFill>
              <a:srgbClr val="1D39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475488" y="6519672"/>
            <a:ext cx="3657600" cy="20116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AFC2D4"/>
                </a:solidFill>
                <a:latin typeface="Aptos"/>
              </a:rPr>
              <a:t>Predictive analysis methodology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B537A70-5FCC-E334-09BA-535043B88EDE}"/>
              </a:ext>
            </a:extLst>
          </p:cNvPr>
          <p:cNvSpPr txBox="1"/>
          <p:nvPr/>
        </p:nvSpPr>
        <p:spPr>
          <a:xfrm>
            <a:off x="7589518" y="6527780"/>
            <a:ext cx="4157473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lang="en-US" sz="850" b="1" dirty="0">
                <a:solidFill>
                  <a:srgbClr val="22D3EE"/>
                </a:solidFill>
                <a:latin typeface="Aptos"/>
              </a:rPr>
              <a:t>GitHub  •  https://github.com/TurboMewCoin/IBM-Data-Science-Capstone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365760"/>
            <a:ext cx="438912" cy="32004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Aptos"/>
              </a:rPr>
              <a:t>17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38912" y="758952"/>
            <a:ext cx="521208" cy="0"/>
          </a:xfrm>
          <a:prstGeom prst="line">
            <a:avLst/>
          </a:prstGeom>
          <a:ln w="3175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97280" y="347472"/>
            <a:ext cx="384048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AFC2D4"/>
                </a:solidFill>
                <a:latin typeface="Aptos"/>
              </a:rPr>
              <a:t>CLASSIFICATION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66928"/>
            <a:ext cx="10607040" cy="56692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8FAFC"/>
                </a:solidFill>
                <a:latin typeface="Aptos"/>
              </a:rPr>
              <a:t>Model results — validation lead, test tie, clear error mode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298448"/>
            <a:ext cx="4992624" cy="4553712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32688" y="1609344"/>
            <a:ext cx="2103120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2D3EE"/>
                </a:solidFill>
                <a:latin typeface="Aptos"/>
              </a:rPr>
              <a:t>Verified accuracy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194560"/>
            <a:ext cx="1965960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8FAFC"/>
                </a:solidFill>
                <a:latin typeface="Aptos"/>
              </a:rPr>
              <a:t>Logistic Regression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34640" y="2212848"/>
            <a:ext cx="2240280" cy="256032"/>
          </a:xfrm>
          <a:prstGeom prst="roundRect">
            <a:avLst/>
          </a:prstGeom>
          <a:solidFill>
            <a:srgbClr val="1D3952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2834640" y="2212848"/>
            <a:ext cx="1895276" cy="256032"/>
          </a:xfrm>
          <a:prstGeom prst="round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944368" y="2231136"/>
            <a:ext cx="1051560" cy="16459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071426"/>
                </a:solidFill>
                <a:latin typeface="Aptos"/>
              </a:rPr>
              <a:t>CV 84.6%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34640" y="2587752"/>
            <a:ext cx="2240280" cy="256032"/>
          </a:xfrm>
          <a:prstGeom prst="roundRect">
            <a:avLst/>
          </a:prstGeom>
          <a:solidFill>
            <a:srgbClr val="1D3952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2834640" y="2587752"/>
            <a:ext cx="1866153" cy="256032"/>
          </a:xfrm>
          <a:prstGeom prst="roundRect">
            <a:avLst/>
          </a:prstGeom>
          <a:solidFill>
            <a:srgbClr val="FF6B6B"/>
          </a:solidFill>
          <a:ln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944368" y="2606040"/>
            <a:ext cx="1051560" cy="16459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071426"/>
                </a:solidFill>
                <a:latin typeface="Aptos"/>
              </a:rPr>
              <a:t>Test 83.3%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3310128"/>
            <a:ext cx="1965960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8FAFC"/>
                </a:solidFill>
                <a:latin typeface="Aptos"/>
              </a:rPr>
              <a:t>SVM — sigmoid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34640" y="3328416"/>
            <a:ext cx="2240280" cy="256032"/>
          </a:xfrm>
          <a:prstGeom prst="roundRect">
            <a:avLst/>
          </a:prstGeom>
          <a:solidFill>
            <a:srgbClr val="1D3952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2834640" y="3328416"/>
            <a:ext cx="1899757" cy="256032"/>
          </a:xfrm>
          <a:prstGeom prst="roundRect">
            <a:avLst/>
          </a:prstGeom>
          <a:solidFill>
            <a:srgbClr val="22D3EE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944368" y="3346704"/>
            <a:ext cx="1051560" cy="16459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071426"/>
                </a:solidFill>
                <a:latin typeface="Aptos"/>
              </a:rPr>
              <a:t>CV 84.8%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834640" y="3703320"/>
            <a:ext cx="2240280" cy="256032"/>
          </a:xfrm>
          <a:prstGeom prst="roundRect">
            <a:avLst/>
          </a:prstGeom>
          <a:solidFill>
            <a:srgbClr val="1D3952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2834640" y="3703320"/>
            <a:ext cx="1866153" cy="256032"/>
          </a:xfrm>
          <a:prstGeom prst="roundRect">
            <a:avLst/>
          </a:prstGeom>
          <a:solidFill>
            <a:srgbClr val="FF6B6B"/>
          </a:solidFill>
          <a:ln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944368" y="3721608"/>
            <a:ext cx="1051560" cy="16459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071426"/>
                </a:solidFill>
                <a:latin typeface="Aptos"/>
              </a:rPr>
              <a:t>Test 83.3%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4654296"/>
            <a:ext cx="4279392" cy="720197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dirty="0">
                <a:solidFill>
                  <a:srgbClr val="AFC2D4"/>
                </a:solidFill>
                <a:latin typeface="Aptos"/>
              </a:rPr>
              <a:t>SVM has the strongest validation score; both verified models classify 15 of 18 test records correctly.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897880" y="1298448"/>
            <a:ext cx="5623560" cy="4553712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181344" y="1609344"/>
            <a:ext cx="2103120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BBF24"/>
                </a:solidFill>
                <a:latin typeface="Aptos"/>
              </a:rPr>
              <a:t>Confusion matrix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92240" y="2267712"/>
            <a:ext cx="960120" cy="914400"/>
          </a:xfrm>
          <a:prstGeom prst="rect">
            <a:avLst/>
          </a:prstGeom>
          <a:solidFill>
            <a:srgbClr val="1D3952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92240" y="2532888"/>
            <a:ext cx="960120" cy="27432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F8FAFC"/>
                </a:solidFill>
                <a:latin typeface="Aptos"/>
              </a:rPr>
              <a:t>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589519" y="2267712"/>
            <a:ext cx="960120" cy="914400"/>
          </a:xfrm>
          <a:prstGeom prst="rect">
            <a:avLst/>
          </a:prstGeom>
          <a:solidFill>
            <a:srgbClr val="A74350"/>
          </a:solidFill>
          <a:ln>
            <a:solidFill>
              <a:srgbClr val="A743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589519" y="2532888"/>
            <a:ext cx="960120" cy="27432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F8FAFC"/>
                </a:solidFill>
                <a:latin typeface="Aptos"/>
              </a:rPr>
              <a:t>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92240" y="3319272"/>
            <a:ext cx="960120" cy="914400"/>
          </a:xfrm>
          <a:prstGeom prst="rect">
            <a:avLst/>
          </a:prstGeom>
          <a:solidFill>
            <a:srgbClr val="0B2338"/>
          </a:solidFill>
          <a:ln>
            <a:solidFill>
              <a:srgbClr val="0B23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92240" y="3584448"/>
            <a:ext cx="960120" cy="27432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F8FAFC"/>
                </a:solidFill>
                <a:latin typeface="Aptos"/>
              </a:rPr>
              <a:t>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89519" y="3319272"/>
            <a:ext cx="960120" cy="914400"/>
          </a:xfrm>
          <a:prstGeom prst="rect">
            <a:avLst/>
          </a:prstGeom>
          <a:solidFill>
            <a:srgbClr val="F4D8BF"/>
          </a:solidFill>
          <a:ln>
            <a:solidFill>
              <a:srgbClr val="F4D8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589519" y="3584448"/>
            <a:ext cx="960120" cy="27432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900" b="1">
                <a:solidFill>
                  <a:srgbClr val="0F172A"/>
                </a:solidFill>
                <a:latin typeface="Aptos"/>
              </a:rPr>
              <a:t>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19088" y="4498848"/>
            <a:ext cx="114300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AFC2D4"/>
                </a:solidFill>
                <a:latin typeface="Aptos"/>
              </a:rPr>
              <a:t>Predicted fail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34656" y="4498848"/>
            <a:ext cx="118872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AFC2D4"/>
                </a:solidFill>
                <a:latin typeface="Aptos"/>
              </a:rPr>
              <a:t>Predicted land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98464" y="2587752"/>
            <a:ext cx="502920" cy="29260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AFC2D4"/>
                </a:solidFill>
                <a:latin typeface="Aptos"/>
              </a:rPr>
              <a:t>Actual fail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98464" y="3639312"/>
            <a:ext cx="502920" cy="29260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AFC2D4"/>
                </a:solidFill>
                <a:latin typeface="Aptos"/>
              </a:rPr>
              <a:t>Actual land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997696" y="2267712"/>
            <a:ext cx="2057400" cy="1005840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107424" y="2377440"/>
            <a:ext cx="1837943" cy="36576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6B6B"/>
                </a:solidFill>
                <a:latin typeface="Aptos"/>
              </a:rP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07424" y="2798064"/>
            <a:ext cx="1837943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AFC2D4"/>
                </a:solidFill>
                <a:latin typeface="Aptos"/>
              </a:rPr>
              <a:t>false positives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997696" y="3502152"/>
            <a:ext cx="2057400" cy="1005840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9107424" y="3611880"/>
            <a:ext cx="1837943" cy="36576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0C997"/>
                </a:solidFill>
                <a:latin typeface="Aptos"/>
              </a:rP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07424" y="4032504"/>
            <a:ext cx="1837943" cy="25603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AFC2D4"/>
                </a:solidFill>
                <a:latin typeface="Aptos"/>
              </a:rPr>
              <a:t>false negatives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997696" y="4846320"/>
            <a:ext cx="2057400" cy="412421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dirty="0">
                <a:solidFill>
                  <a:srgbClr val="AFC2D4"/>
                </a:solidFill>
                <a:latin typeface="Aptos"/>
              </a:rPr>
              <a:t>Main risk: predicting a landing when the stage actually fails.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438912" y="6492240"/>
            <a:ext cx="11311128" cy="0"/>
          </a:xfrm>
          <a:prstGeom prst="line">
            <a:avLst/>
          </a:prstGeom>
          <a:ln w="12700">
            <a:solidFill>
              <a:srgbClr val="1D39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475488" y="6519672"/>
            <a:ext cx="3657600" cy="20116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AFC2D4"/>
                </a:solidFill>
                <a:latin typeface="Aptos"/>
              </a:rPr>
              <a:t>Predictive analysis results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E5391A4-F757-608D-6468-1772A78278FB}"/>
              </a:ext>
            </a:extLst>
          </p:cNvPr>
          <p:cNvSpPr txBox="1"/>
          <p:nvPr/>
        </p:nvSpPr>
        <p:spPr>
          <a:xfrm>
            <a:off x="7589518" y="6527780"/>
            <a:ext cx="4157473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lang="en-US" sz="850" b="1" dirty="0">
                <a:solidFill>
                  <a:srgbClr val="22D3EE"/>
                </a:solidFill>
                <a:latin typeface="Aptos"/>
              </a:rPr>
              <a:t>GitHub  •  https://github.com/TurboMewCoin/IBM-Data-Science-Capstone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8912" y="365760"/>
            <a:ext cx="438912" cy="32004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2D3EE"/>
                </a:solidFill>
                <a:latin typeface="Aptos"/>
              </a:rPr>
              <a:t>18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38912" y="758952"/>
            <a:ext cx="521208" cy="0"/>
          </a:xfrm>
          <a:prstGeom prst="line">
            <a:avLst/>
          </a:prstGeom>
          <a:ln w="31750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97280" y="347472"/>
            <a:ext cx="3840480" cy="237744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AFC2D4"/>
                </a:solidFill>
                <a:latin typeface="Aptos"/>
              </a:rPr>
              <a:t>DECISION IMPLICATIONS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" y="566928"/>
            <a:ext cx="10607040" cy="56692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F8FAFC"/>
                </a:solidFill>
                <a:latin typeface="Aptos"/>
              </a:rPr>
              <a:t>Conclusions and innovative next steps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325880"/>
            <a:ext cx="5193792" cy="4553712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32688" y="1645920"/>
            <a:ext cx="3200400" cy="27432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2D3EE"/>
                </a:solidFill>
                <a:latin typeface="Aptos"/>
              </a:rPr>
              <a:t>What the evidence supports</a:t>
            </a:r>
          </a:p>
        </p:txBody>
      </p:sp>
      <p:sp>
        <p:nvSpPr>
          <p:cNvPr id="8" name="Oval 7"/>
          <p:cNvSpPr/>
          <p:nvPr/>
        </p:nvSpPr>
        <p:spPr>
          <a:xfrm>
            <a:off x="932688" y="2286000"/>
            <a:ext cx="100584" cy="100584"/>
          </a:xfrm>
          <a:prstGeom prst="ellipse">
            <a:avLst/>
          </a:prstGeom>
          <a:solidFill>
            <a:srgbClr val="22D3EE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33856" y="2212848"/>
            <a:ext cx="4379976" cy="50475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dirty="0">
                <a:solidFill>
                  <a:srgbClr val="F8FAFC"/>
                </a:solidFill>
                <a:latin typeface="Aptos"/>
              </a:rPr>
              <a:t>KSC LC-39A leads both success volume and site success rate</a:t>
            </a:r>
          </a:p>
        </p:txBody>
      </p:sp>
      <p:sp>
        <p:nvSpPr>
          <p:cNvPr id="10" name="Oval 9"/>
          <p:cNvSpPr/>
          <p:nvPr/>
        </p:nvSpPr>
        <p:spPr>
          <a:xfrm>
            <a:off x="932688" y="2852928"/>
            <a:ext cx="100584" cy="100584"/>
          </a:xfrm>
          <a:prstGeom prst="ellipse">
            <a:avLst/>
          </a:prstGeom>
          <a:solidFill>
            <a:srgbClr val="22D3EE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33856" y="2779776"/>
            <a:ext cx="4279392" cy="56692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dirty="0">
                <a:solidFill>
                  <a:srgbClr val="F8FAFC"/>
                </a:solidFill>
                <a:latin typeface="Aptos"/>
              </a:rPr>
              <a:t>Launch outcomes improve across the flight sequence</a:t>
            </a:r>
          </a:p>
        </p:txBody>
      </p:sp>
      <p:sp>
        <p:nvSpPr>
          <p:cNvPr id="12" name="Oval 11"/>
          <p:cNvSpPr/>
          <p:nvPr/>
        </p:nvSpPr>
        <p:spPr>
          <a:xfrm>
            <a:off x="932688" y="3419856"/>
            <a:ext cx="100584" cy="100584"/>
          </a:xfrm>
          <a:prstGeom prst="ellipse">
            <a:avLst/>
          </a:prstGeom>
          <a:solidFill>
            <a:srgbClr val="22D3EE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33856" y="3346704"/>
            <a:ext cx="4315968" cy="50475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dirty="0">
                <a:solidFill>
                  <a:srgbClr val="F8FAFC"/>
                </a:solidFill>
                <a:latin typeface="Aptos"/>
              </a:rPr>
              <a:t>SVM gives the best validation score; Logistic Regression matches its test accuracy</a:t>
            </a:r>
          </a:p>
        </p:txBody>
      </p:sp>
      <p:sp>
        <p:nvSpPr>
          <p:cNvPr id="14" name="Oval 13"/>
          <p:cNvSpPr/>
          <p:nvPr/>
        </p:nvSpPr>
        <p:spPr>
          <a:xfrm>
            <a:off x="932688" y="3986783"/>
            <a:ext cx="100584" cy="100584"/>
          </a:xfrm>
          <a:prstGeom prst="ellipse">
            <a:avLst/>
          </a:prstGeom>
          <a:solidFill>
            <a:srgbClr val="22D3EE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33856" y="3913631"/>
            <a:ext cx="4279392" cy="56692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dirty="0">
                <a:solidFill>
                  <a:srgbClr val="F8FAFC"/>
                </a:solidFill>
                <a:latin typeface="Aptos"/>
              </a:rPr>
              <a:t>False positives deserve the most operational attention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08192" y="1325880"/>
            <a:ext cx="5413248" cy="4553712"/>
          </a:xfrm>
          <a:prstGeom prst="roundRect">
            <a:avLst/>
          </a:prstGeom>
          <a:solidFill>
            <a:srgbClr val="0C2038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382512" y="1645920"/>
            <a:ext cx="3200400" cy="27432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BBF24"/>
                </a:solidFill>
                <a:latin typeface="Aptos"/>
              </a:rPr>
              <a:t>Beyond the template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82512" y="2139696"/>
            <a:ext cx="438912" cy="329184"/>
          </a:xfrm>
          <a:prstGeom prst="roundRect">
            <a:avLst/>
          </a:prstGeom>
          <a:solidFill>
            <a:srgbClr val="FF6B6B"/>
          </a:solidFill>
          <a:ln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46520" y="2176272"/>
            <a:ext cx="310896" cy="219456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071426"/>
                </a:solidFill>
                <a:latin typeface="Aptos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04304" y="2121408"/>
            <a:ext cx="3584448" cy="219456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6B6B"/>
                </a:solidFill>
                <a:latin typeface="Aptos"/>
              </a:rPr>
              <a:t>COST-AWARE THRESHOLD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04304" y="2450591"/>
            <a:ext cx="3931920" cy="47397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8FAFC"/>
                </a:solidFill>
                <a:latin typeface="Aptos"/>
              </a:rPr>
              <a:t>Penalize false positives more heavily than false negatives.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82512" y="3191256"/>
            <a:ext cx="438912" cy="329184"/>
          </a:xfrm>
          <a:prstGeom prst="roundRect">
            <a:avLst/>
          </a:prstGeom>
          <a:solidFill>
            <a:srgbClr val="FBBF24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46520" y="3227832"/>
            <a:ext cx="310896" cy="219456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071426"/>
                </a:solidFill>
                <a:latin typeface="Aptos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04304" y="3172968"/>
            <a:ext cx="3584448" cy="219456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BBF24"/>
                </a:solidFill>
                <a:latin typeface="Aptos"/>
              </a:rPr>
              <a:t>CALIBRATED PROBABILITY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04304" y="3502151"/>
            <a:ext cx="3895344" cy="438912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>
                <a:solidFill>
                  <a:srgbClr val="F8FAFC"/>
                </a:solidFill>
                <a:latin typeface="Aptos"/>
              </a:rPr>
              <a:t>Report landing probability—not only a binary class.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82512" y="4242816"/>
            <a:ext cx="438912" cy="329184"/>
          </a:xfrm>
          <a:prstGeom prst="roundRect">
            <a:avLst/>
          </a:prstGeom>
          <a:solidFill>
            <a:srgbClr val="20C997"/>
          </a:solidFill>
          <a:ln>
            <a:solidFill>
              <a:srgbClr val="20C9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46520" y="4279392"/>
            <a:ext cx="310896" cy="219456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071426"/>
                </a:solidFill>
                <a:latin typeface="Apto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04304" y="4224528"/>
            <a:ext cx="3584448" cy="219456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0C997"/>
                </a:solidFill>
                <a:latin typeface="Aptos"/>
              </a:rPr>
              <a:t>DRIFT MONITORING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04304" y="4553712"/>
            <a:ext cx="3931920" cy="47397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dirty="0">
                <a:solidFill>
                  <a:srgbClr val="F8FAFC"/>
                </a:solidFill>
                <a:latin typeface="Aptos"/>
              </a:rPr>
              <a:t>Retrain as new booster versions and mission profiles appear.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82512" y="5248656"/>
            <a:ext cx="4663440" cy="347472"/>
          </a:xfrm>
          <a:prstGeom prst="roundRect">
            <a:avLst/>
          </a:prstGeom>
          <a:solidFill>
            <a:srgbClr val="1D3952"/>
          </a:solidFill>
          <a:ln>
            <a:solidFill>
              <a:srgbClr val="1D3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92240" y="5312664"/>
            <a:ext cx="4443984" cy="18288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8FAFC"/>
                </a:solidFill>
                <a:latin typeface="Aptos"/>
              </a:rPr>
              <a:t>Recommendation: deploy as decision support, not an autonomous go/no-go rule.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438912" y="6492240"/>
            <a:ext cx="11311128" cy="0"/>
          </a:xfrm>
          <a:prstGeom prst="line">
            <a:avLst/>
          </a:prstGeom>
          <a:ln w="12700">
            <a:solidFill>
              <a:srgbClr val="1D395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475488" y="6519672"/>
            <a:ext cx="3657600" cy="201168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AFC2D4"/>
                </a:solidFill>
                <a:latin typeface="Aptos"/>
              </a:rPr>
              <a:t>Conclusions and innovative insights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5B66B62-1916-111B-274E-BDDAD635DFA5}"/>
              </a:ext>
            </a:extLst>
          </p:cNvPr>
          <p:cNvSpPr txBox="1"/>
          <p:nvPr/>
        </p:nvSpPr>
        <p:spPr>
          <a:xfrm>
            <a:off x="7589518" y="6527780"/>
            <a:ext cx="4157473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lang="en-US" sz="850" b="1" dirty="0">
                <a:solidFill>
                  <a:srgbClr val="22D3EE"/>
                </a:solidFill>
                <a:latin typeface="Aptos"/>
              </a:rPr>
              <a:t>GitHub  •  https://github.com/TurboMewCoin/IBM-Data-Science-Capstone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1418</Words>
  <Application>Microsoft Office PowerPoint</Application>
  <PresentationFormat>Widescreen</PresentationFormat>
  <Paragraphs>345</Paragraphs>
  <Slides>18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>Armando Romero Mariscal R.</cp:lastModifiedBy>
  <cp:revision>2</cp:revision>
  <dcterms:created xsi:type="dcterms:W3CDTF">2026-08-19T11:13:21Z</dcterms:created>
  <dcterms:modified xsi:type="dcterms:W3CDTF">2026-08-19T14:22:47Z</dcterms:modified>
  <cp:category/>
</cp:coreProperties>
</file>