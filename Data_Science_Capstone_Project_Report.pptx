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37082-B1CF-4D3D-8A96-BD30A394054C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7CEB8-63AB-4952-A83B-A2483E71BB9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036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7CEB8-63AB-4952-A83B-A2483E71BB97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085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2103510" cy="685800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59" y="0"/>
            <a:ext cx="4005838" cy="6858000"/>
          </a:xfrm>
          <a:prstGeom prst="rect">
            <a:avLst/>
          </a:prstGeom>
          <a:solidFill>
            <a:srgbClr val="0C2038"/>
          </a:solidFill>
          <a:ln>
            <a:solidFill>
              <a:srgbClr val="0C2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164592" cy="16459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81360" y="1508760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0" y="2194560"/>
            <a:ext cx="118872" cy="118872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64240" y="4389120"/>
            <a:ext cx="137160" cy="13716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0" y="5577840"/>
            <a:ext cx="82296" cy="82296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1874519"/>
            <a:ext cx="1965960" cy="196596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62288" y="2304288"/>
            <a:ext cx="1106424" cy="1106424"/>
          </a:xfrm>
          <a:prstGeom prst="ellipse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25712" y="2798064"/>
            <a:ext cx="1170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45752" y="3182112"/>
            <a:ext cx="548640" cy="219456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H="1">
            <a:off x="8705088" y="4389120"/>
            <a:ext cx="347472" cy="612648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69296" y="4389120"/>
            <a:ext cx="347472" cy="612648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48640"/>
            <a:ext cx="2194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SPACE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216152"/>
            <a:ext cx="704088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dirty="0">
                <a:solidFill>
                  <a:srgbClr val="F8FAFC"/>
                </a:solidFill>
                <a:latin typeface="Aptos"/>
              </a:rPr>
              <a:t>Predicting Falcon 9</a:t>
            </a:r>
          </a:p>
          <a:p>
            <a:pPr algn="l">
              <a:lnSpc>
                <a:spcPct val="100000"/>
              </a:lnSpc>
            </a:pPr>
            <a:r>
              <a:rPr sz="3400" b="1" dirty="0">
                <a:solidFill>
                  <a:srgbClr val="F8FAFC"/>
                </a:solidFill>
                <a:latin typeface="Aptos"/>
              </a:rPr>
              <a:t>First-Stage Landings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71216"/>
            <a:ext cx="6492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FC2D4"/>
                </a:solidFill>
                <a:latin typeface="Aptos"/>
              </a:rPr>
              <a:t>Applied Data Science Capstone  •  Technical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86200"/>
            <a:ext cx="6812280" cy="102412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160520"/>
            <a:ext cx="6318461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F8FAFC"/>
                </a:solidFill>
                <a:latin typeface="Aptos"/>
              </a:rPr>
              <a:t>A reproducible pipeline from API and web data to interactive</a:t>
            </a:r>
            <a:endParaRPr lang="en-US" sz="1800" b="1" dirty="0">
              <a:solidFill>
                <a:srgbClr val="F8FAFC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F8FAFC"/>
                </a:solidFill>
                <a:latin typeface="Aptos"/>
              </a:rPr>
              <a:t>analytics and classification.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870448"/>
            <a:ext cx="2608150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300" b="1" dirty="0">
                <a:solidFill>
                  <a:srgbClr val="F8FAFC"/>
                </a:solidFill>
                <a:latin typeface="Aptos"/>
              </a:rPr>
              <a:t>Armando Romero Mariscal Guasp</a:t>
            </a:r>
            <a:endParaRPr sz="13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6199632"/>
            <a:ext cx="925061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dirty="0">
                <a:solidFill>
                  <a:srgbClr val="AFC2D4"/>
                </a:solidFill>
                <a:latin typeface="Aptos"/>
              </a:rPr>
              <a:t>21 </a:t>
            </a:r>
            <a:r>
              <a:rPr sz="1000" b="0" dirty="0">
                <a:solidFill>
                  <a:srgbClr val="AFC2D4"/>
                </a:solidFill>
                <a:latin typeface="Aptos"/>
              </a:rPr>
              <a:t>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8594" y="5870448"/>
            <a:ext cx="3906646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MX" sz="1100" b="1" dirty="0">
                <a:solidFill>
                  <a:srgbClr val="22D3EE"/>
                </a:solidFill>
                <a:latin typeface="Aptos"/>
              </a:rPr>
              <a:t>https://github.com/ijontichyai/IBM-Data-Science-Capstone</a:t>
            </a:r>
            <a:endParaRPr sz="1100" b="1" dirty="0">
              <a:solidFill>
                <a:srgbClr val="22D3E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DECISION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8FAFC"/>
                </a:solidFill>
                <a:latin typeface="Aptos"/>
              </a:rPr>
              <a:t>Can launch history reveal when a Falcon 9 first stage is likely to land?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331720" cy="10058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2112263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2D3EE"/>
                </a:solidFill>
                <a:latin typeface="Aptos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04872"/>
            <a:ext cx="2112263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FC2D4"/>
                </a:solidFill>
                <a:latin typeface="Aptos"/>
              </a:rPr>
              <a:t>launch records analyzed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3824" y="1874519"/>
            <a:ext cx="2331720" cy="10058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3552" y="1984248"/>
            <a:ext cx="238976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dirty="0">
                <a:solidFill>
                  <a:srgbClr val="FBBF24"/>
                </a:solidFill>
                <a:latin typeface="Aptos"/>
              </a:rPr>
              <a:t>4</a:t>
            </a:r>
            <a:endParaRPr sz="2400" b="1" dirty="0">
              <a:solidFill>
                <a:srgbClr val="FBBF2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3552" y="2404872"/>
            <a:ext cx="1476494" cy="23544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launch</a:t>
            </a:r>
            <a:r>
              <a:rPr lang="es-MX" sz="1050" b="1" dirty="0">
                <a:solidFill>
                  <a:srgbClr val="AFC2D4"/>
                </a:solidFill>
                <a:latin typeface="Aptos"/>
              </a:rPr>
              <a:t> sites </a:t>
            </a: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compared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0" y="1874519"/>
            <a:ext cx="2331720" cy="10058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79008" y="1984248"/>
            <a:ext cx="921855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dirty="0">
                <a:solidFill>
                  <a:srgbClr val="20C997"/>
                </a:solidFill>
                <a:latin typeface="Aptos"/>
              </a:rPr>
              <a:t>90</a:t>
            </a:r>
            <a:r>
              <a:rPr sz="2400" b="1" dirty="0">
                <a:solidFill>
                  <a:srgbClr val="20C997"/>
                </a:solidFill>
                <a:latin typeface="Aptos"/>
              </a:rPr>
              <a:t>.</a:t>
            </a:r>
            <a:r>
              <a:rPr lang="en-US" sz="2400" b="1" dirty="0">
                <a:solidFill>
                  <a:srgbClr val="20C997"/>
                </a:solidFill>
                <a:latin typeface="Aptos"/>
              </a:rPr>
              <a:t>4</a:t>
            </a:r>
            <a:r>
              <a:rPr sz="2400" b="1" dirty="0">
                <a:solidFill>
                  <a:srgbClr val="20C997"/>
                </a:solidFill>
                <a:latin typeface="Aptos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404872"/>
            <a:ext cx="1922129" cy="23544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highest</a:t>
            </a:r>
            <a:r>
              <a:rPr lang="es-MX" sz="1050" b="1" dirty="0">
                <a:solidFill>
                  <a:srgbClr val="AFC2D4"/>
                </a:solidFill>
                <a:latin typeface="Aptos"/>
              </a:rPr>
              <a:t> </a:t>
            </a: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cross-validation</a:t>
            </a:r>
            <a:r>
              <a:rPr lang="es-MX" sz="1050" b="1" dirty="0">
                <a:solidFill>
                  <a:srgbClr val="AFC2D4"/>
                </a:solidFill>
                <a:latin typeface="Aptos"/>
              </a:rPr>
              <a:t> score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74736" y="1874519"/>
            <a:ext cx="2331720" cy="10058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3" y="1984248"/>
            <a:ext cx="2112263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6B6B"/>
                </a:solidFill>
                <a:latin typeface="Aptos"/>
              </a:rPr>
              <a:t>83.3%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404872"/>
            <a:ext cx="1439625" cy="23544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best</a:t>
            </a:r>
            <a:r>
              <a:rPr lang="es-MX" sz="1050" b="1" dirty="0">
                <a:solidFill>
                  <a:srgbClr val="AFC2D4"/>
                </a:solidFill>
                <a:latin typeface="Aptos"/>
              </a:rPr>
              <a:t> </a:t>
            </a: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holdout</a:t>
            </a:r>
            <a:r>
              <a:rPr lang="es-MX" sz="1050" b="1" dirty="0">
                <a:solidFill>
                  <a:srgbClr val="AFC2D4"/>
                </a:solidFill>
                <a:latin typeface="Aptos"/>
              </a:rPr>
              <a:t> </a:t>
            </a: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accuracy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246120"/>
            <a:ext cx="5212080" cy="23774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511296"/>
            <a:ext cx="1828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Aptos"/>
              </a:rPr>
              <a:t>What we did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023360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950208"/>
            <a:ext cx="4434419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Collected Falcon 9 launch data via API and web scraping</a:t>
            </a:r>
            <a:endParaRPr sz="14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96112" y="4480560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07408"/>
            <a:ext cx="4416552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8FAFC"/>
                </a:solidFill>
                <a:latin typeface="Aptos"/>
              </a:rPr>
              <a:t>Cleaned, encoded, queried, mapped, and visualized the data</a:t>
            </a:r>
          </a:p>
        </p:txBody>
      </p:sp>
      <p:sp>
        <p:nvSpPr>
          <p:cNvPr id="25" name="Oval 24"/>
          <p:cNvSpPr/>
          <p:nvPr/>
        </p:nvSpPr>
        <p:spPr>
          <a:xfrm>
            <a:off x="896112" y="4937760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864608"/>
            <a:ext cx="4416552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8FAFC"/>
                </a:solidFill>
                <a:latin typeface="Aptos"/>
              </a:rPr>
              <a:t>Tuned Logistic Regression, SVM, Decision Tree, and KNN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246119"/>
            <a:ext cx="5623560" cy="3026661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3511296"/>
            <a:ext cx="219456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Aptos"/>
              </a:rPr>
              <a:t>What we learned</a:t>
            </a:r>
          </a:p>
        </p:txBody>
      </p:sp>
      <p:sp>
        <p:nvSpPr>
          <p:cNvPr id="29" name="Oval 28"/>
          <p:cNvSpPr/>
          <p:nvPr/>
        </p:nvSpPr>
        <p:spPr>
          <a:xfrm>
            <a:off x="6364224" y="4023360"/>
            <a:ext cx="100584" cy="10058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3950208"/>
            <a:ext cx="493699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Launch site, payload, orbit, and booster context are associated</a:t>
            </a:r>
          </a:p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with landing outcomes</a:t>
            </a:r>
            <a:endParaRPr sz="1400" b="0" dirty="0">
              <a:solidFill>
                <a:srgbClr val="F8FAFC"/>
              </a:solidFill>
              <a:latin typeface="Apto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C41E0C-A236-E0D2-D6AD-8FC8074846BB}"/>
              </a:ext>
            </a:extLst>
          </p:cNvPr>
          <p:cNvGrpSpPr/>
          <p:nvPr/>
        </p:nvGrpSpPr>
        <p:grpSpPr>
          <a:xfrm>
            <a:off x="6364224" y="4519168"/>
            <a:ext cx="4868279" cy="720197"/>
            <a:chOff x="6364224" y="4407408"/>
            <a:chExt cx="4868279" cy="720197"/>
          </a:xfrm>
        </p:grpSpPr>
        <p:sp>
          <p:nvSpPr>
            <p:cNvPr id="31" name="Oval 30"/>
            <p:cNvSpPr/>
            <p:nvPr/>
          </p:nvSpPr>
          <p:spPr>
            <a:xfrm>
              <a:off x="6364224" y="4480560"/>
              <a:ext cx="100584" cy="100584"/>
            </a:xfrm>
            <a:prstGeom prst="ellipse">
              <a:avLst/>
            </a:prstGeom>
            <a:solidFill>
              <a:srgbClr val="FBBF24"/>
            </a:solidFill>
            <a:ln>
              <a:solidFill>
                <a:srgbClr val="FBBF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65392" y="4407408"/>
              <a:ext cx="4667111" cy="720197"/>
            </a:xfrm>
            <a:prstGeom prst="rect">
              <a:avLst/>
            </a:prstGeom>
            <a:noFill/>
          </p:spPr>
          <p:txBody>
            <a:bodyPr wrap="none" lIns="36576" tIns="36576" rIns="36576" bIns="36576" anchor="t">
              <a:spAutoFit/>
            </a:bodyPr>
            <a:lstStyle/>
            <a:p>
              <a:r>
                <a:rPr lang="en-US" sz="1400" dirty="0">
                  <a:solidFill>
                    <a:srgbClr val="F8FAFC"/>
                  </a:solidFill>
                  <a:latin typeface="Aptos"/>
                </a:rPr>
                <a:t>Decision Tree achieved the highest CV score (90.4%), but</a:t>
              </a:r>
            </a:p>
            <a:p>
              <a:r>
                <a:rPr lang="en-US" sz="1400" dirty="0">
                  <a:solidFill>
                    <a:srgbClr val="F8FAFC"/>
                  </a:solidFill>
                  <a:latin typeface="Aptos"/>
                </a:rPr>
                <a:t>Logistic Regression, SVM, and KNN tied for the best holdout</a:t>
              </a:r>
            </a:p>
            <a:p>
              <a:r>
                <a:rPr lang="en-US" sz="1400" dirty="0">
                  <a:solidFill>
                    <a:srgbClr val="F8FAFC"/>
                  </a:solidFill>
                  <a:latin typeface="Aptos"/>
                </a:rPr>
                <a:t>accuracy at 83.3%.</a:t>
              </a:r>
              <a:endParaRPr sz="1400" b="0" dirty="0">
                <a:solidFill>
                  <a:srgbClr val="F8FAFC"/>
                </a:solidFill>
                <a:latin typeface="Apto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D74800-5023-4982-7A4D-B89E117A5A41}"/>
              </a:ext>
            </a:extLst>
          </p:cNvPr>
          <p:cNvGrpSpPr/>
          <p:nvPr/>
        </p:nvGrpSpPr>
        <p:grpSpPr>
          <a:xfrm>
            <a:off x="6364224" y="5392928"/>
            <a:ext cx="5046405" cy="504754"/>
            <a:chOff x="6364224" y="4864608"/>
            <a:chExt cx="5046405" cy="504754"/>
          </a:xfrm>
        </p:grpSpPr>
        <p:sp>
          <p:nvSpPr>
            <p:cNvPr id="33" name="Oval 32"/>
            <p:cNvSpPr/>
            <p:nvPr/>
          </p:nvSpPr>
          <p:spPr>
            <a:xfrm>
              <a:off x="6364224" y="4937760"/>
              <a:ext cx="100584" cy="100584"/>
            </a:xfrm>
            <a:prstGeom prst="ellipse">
              <a:avLst/>
            </a:prstGeom>
            <a:solidFill>
              <a:srgbClr val="FBBF24"/>
            </a:solidFill>
            <a:ln>
              <a:solidFill>
                <a:srgbClr val="FBBF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65392" y="4864608"/>
              <a:ext cx="4845237" cy="504754"/>
            </a:xfrm>
            <a:prstGeom prst="rect">
              <a:avLst/>
            </a:prstGeom>
            <a:noFill/>
          </p:spPr>
          <p:txBody>
            <a:bodyPr wrap="none" lIns="36576" tIns="36576" rIns="36576" bIns="36576" anchor="t">
              <a:spAutoFit/>
            </a:bodyPr>
            <a:lstStyle/>
            <a:p>
              <a:r>
                <a:rPr lang="en-US" sz="1400" dirty="0">
                  <a:solidFill>
                    <a:srgbClr val="F8FAFC"/>
                  </a:solidFill>
                  <a:latin typeface="Aptos"/>
                </a:rPr>
                <a:t>LR, SVM, and KNN each produced 3 false positives and 0 false</a:t>
              </a:r>
            </a:p>
            <a:p>
              <a:r>
                <a:rPr lang="en-US" sz="1400" dirty="0">
                  <a:solidFill>
                    <a:srgbClr val="F8FAFC"/>
                  </a:solidFill>
                  <a:latin typeface="Aptos"/>
                </a:rPr>
                <a:t>negatives on the holdout set.</a:t>
              </a:r>
              <a:endParaRPr sz="1400" b="0" dirty="0">
                <a:solidFill>
                  <a:srgbClr val="F8FAFC"/>
                </a:solidFill>
                <a:latin typeface="Aptos"/>
              </a:endParaRPr>
            </a:p>
          </p:txBody>
        </p:sp>
      </p:grpSp>
      <p:cxnSp>
        <p:nvCxnSpPr>
          <p:cNvPr id="35" name="Connector 34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Executive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519672"/>
            <a:ext cx="42976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IBM Applied Data Science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Business context and analytical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3675887" cy="452628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3774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209981" cy="148963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F8FAFC"/>
                </a:solidFill>
                <a:latin typeface="Aptos"/>
              </a:rPr>
              <a:t>First-stage reuse can</a:t>
            </a:r>
            <a:endParaRPr lang="en-US" sz="2300" b="1" dirty="0">
              <a:solidFill>
                <a:srgbClr val="F8FAFC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F8FAFC"/>
                </a:solidFill>
                <a:latin typeface="Aptos"/>
              </a:rPr>
              <a:t>reduce launch cost and</a:t>
            </a:r>
            <a:endParaRPr lang="en-US" sz="2300" b="1" dirty="0">
              <a:solidFill>
                <a:srgbClr val="F8FAFC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F8FAFC"/>
                </a:solidFill>
                <a:latin typeface="Aptos"/>
              </a:rPr>
              <a:t>improve mission</a:t>
            </a:r>
            <a:endParaRPr lang="en-US" sz="2300" b="1" dirty="0">
              <a:solidFill>
                <a:srgbClr val="F8FAFC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F8FAFC"/>
                </a:solidFill>
                <a:latin typeface="Aptos"/>
              </a:rPr>
              <a:t>economics.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6492"/>
            <a:ext cx="3209981" cy="7663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dirty="0">
                <a:solidFill>
                  <a:srgbClr val="AFC2D4"/>
                </a:solidFill>
                <a:latin typeface="Aptos"/>
              </a:rPr>
              <a:t>A reliable landing prediction helps</a:t>
            </a:r>
            <a:endParaRPr lang="en-US" sz="1500" b="0" dirty="0">
              <a:solidFill>
                <a:srgbClr val="AFC2D4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500" b="0" dirty="0">
                <a:solidFill>
                  <a:srgbClr val="AFC2D4"/>
                </a:solidFill>
                <a:latin typeface="Aptos"/>
              </a:rPr>
              <a:t>planners estimate reuse potential before launch.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98448"/>
            <a:ext cx="6903720" cy="190195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609344"/>
            <a:ext cx="20116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Aptos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39" y="2011680"/>
            <a:ext cx="6522887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>
                <a:solidFill>
                  <a:srgbClr val="F8FAFC"/>
                </a:solidFill>
                <a:latin typeface="Aptos"/>
              </a:rPr>
              <a:t>Given launch conditions and historical outcomes, will the first stage land successfully?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456432"/>
            <a:ext cx="6903720" cy="236829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01184" y="3785615"/>
            <a:ext cx="1143000" cy="329184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65192" y="3852671"/>
            <a:ext cx="1014983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8FAFC"/>
                </a:solidFill>
                <a:latin typeface="Aptos"/>
              </a:rPr>
              <a:t>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22191"/>
            <a:ext cx="4681728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Payload  •  Orbit  •  Site  •  Booster  •  Flight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416552"/>
            <a:ext cx="1143000" cy="329184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4483608"/>
            <a:ext cx="1014983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453128"/>
            <a:ext cx="4681728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Class = 1 landed  |  Class = 0 did not land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01184" y="5047488"/>
            <a:ext cx="1143000" cy="329184"/>
          </a:xfrm>
          <a:prstGeom prst="roundRect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65192" y="5114544"/>
            <a:ext cx="1014983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8FAFC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084064"/>
            <a:ext cx="3745321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500" b="1" dirty="0" err="1">
                <a:solidFill>
                  <a:srgbClr val="F8FAFC"/>
                </a:solidFill>
                <a:latin typeface="Aptos"/>
              </a:rPr>
              <a:t>Transparent</a:t>
            </a:r>
            <a:r>
              <a:rPr lang="es-MX" sz="15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1500" b="1" dirty="0" err="1">
                <a:solidFill>
                  <a:srgbClr val="F8FAFC"/>
                </a:solidFill>
                <a:latin typeface="Aptos"/>
              </a:rPr>
              <a:t>evidence</a:t>
            </a:r>
            <a:r>
              <a:rPr lang="es-MX" sz="15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1500" b="1" dirty="0" err="1">
                <a:solidFill>
                  <a:srgbClr val="F8FAFC"/>
                </a:solidFill>
                <a:latin typeface="Aptos"/>
              </a:rPr>
              <a:t>for</a:t>
            </a:r>
            <a:r>
              <a:rPr lang="es-MX" sz="15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1500" b="1" dirty="0" err="1">
                <a:solidFill>
                  <a:srgbClr val="F8FAFC"/>
                </a:solidFill>
                <a:latin typeface="Aptos"/>
              </a:rPr>
              <a:t>decision</a:t>
            </a:r>
            <a:r>
              <a:rPr lang="es-MX" sz="15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1500" b="1" dirty="0" err="1">
                <a:solidFill>
                  <a:srgbClr val="F8FAFC"/>
                </a:solidFill>
                <a:latin typeface="Aptos"/>
              </a:rPr>
              <a:t>support</a:t>
            </a:r>
            <a:endParaRPr sz="150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Introduction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C1F784-4B4F-98C4-35A4-E09B0699E385}"/>
              </a:ext>
            </a:extLst>
          </p:cNvPr>
          <p:cNvSpPr txBox="1"/>
          <p:nvPr/>
        </p:nvSpPr>
        <p:spPr>
          <a:xfrm>
            <a:off x="7589518" y="6538171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END-TO-END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From raw launch records to decision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938528"/>
            <a:ext cx="1993392" cy="2066543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0664" y="2157984"/>
            <a:ext cx="457200" cy="457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267712"/>
            <a:ext cx="45720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816352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209544"/>
            <a:ext cx="164592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2D4"/>
                </a:solidFill>
                <a:latin typeface="Aptos"/>
              </a:rPr>
              <a:t>API + Wikipedia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9464" y="2962656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938528"/>
            <a:ext cx="1993392" cy="2066543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44952" y="2157984"/>
            <a:ext cx="457200" cy="4572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2267712"/>
            <a:ext cx="45720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816352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WRANGLE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209544"/>
            <a:ext cx="164592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2D4"/>
                </a:solidFill>
                <a:latin typeface="Aptos"/>
              </a:rPr>
              <a:t>Normalize + label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2962656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84648" y="1938528"/>
            <a:ext cx="1993392" cy="2066543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49240" y="2157984"/>
            <a:ext cx="457200" cy="45720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9240" y="2267712"/>
            <a:ext cx="45720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16352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209544"/>
            <a:ext cx="164592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2D4"/>
                </a:solidFill>
                <a:latin typeface="Aptos"/>
              </a:rPr>
              <a:t>Plots + 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2962656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88936" y="1938528"/>
            <a:ext cx="1993392" cy="2066543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53528" y="2157984"/>
            <a:ext cx="457200" cy="457200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53528" y="2267712"/>
            <a:ext cx="45720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816352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INTERACT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3209544"/>
            <a:ext cx="164592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2D4"/>
                </a:solidFill>
                <a:latin typeface="Aptos"/>
              </a:rPr>
              <a:t>Folium + Dash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82328" y="2962656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93224" y="1938528"/>
            <a:ext cx="1993392" cy="2066543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57816" y="2157984"/>
            <a:ext cx="457200" cy="457200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57816" y="2267712"/>
            <a:ext cx="45720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7816" y="2816352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PREDICT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3209544"/>
            <a:ext cx="164592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2D4"/>
                </a:solidFill>
                <a:latin typeface="Aptos"/>
              </a:rPr>
              <a:t>GridSearchCV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626864"/>
            <a:ext cx="10863072" cy="98755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4910328"/>
            <a:ext cx="153619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Aptos"/>
              </a:rPr>
              <a:t>Design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4846320"/>
            <a:ext cx="880872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700" b="1" dirty="0">
                <a:solidFill>
                  <a:srgbClr val="F8FAFC"/>
                </a:solidFill>
                <a:latin typeface="Aptos"/>
              </a:rPr>
              <a:t>Each analysis stage is traceable to source data, transformations, and a reproducible notebook or Python file in the repository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Methodology overview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2D0956-C860-9BE4-6694-AA91F1951A60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Data collection — SpaceX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36192"/>
            <a:ext cx="2011680" cy="113385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46504"/>
            <a:ext cx="17373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73736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ptos"/>
              </a:rPr>
              <a:t>/v4/launches/past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42032" y="2103120"/>
            <a:ext cx="256032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52928" y="1536192"/>
            <a:ext cx="2011680" cy="113385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1746504"/>
            <a:ext cx="17373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LOOK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057400"/>
            <a:ext cx="173736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8FAFC"/>
                </a:solidFill>
                <a:latin typeface="Aptos"/>
              </a:rPr>
              <a:t>rockets · payloads · launchpads · cores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4608" y="2103120"/>
            <a:ext cx="256032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75504" y="1536192"/>
            <a:ext cx="2011680" cy="113385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2664" y="1746504"/>
            <a:ext cx="17373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2057400"/>
            <a:ext cx="173736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8FAFC"/>
                </a:solidFill>
                <a:latin typeface="Aptos"/>
              </a:rPr>
              <a:t>JSON → pandas </a:t>
            </a:r>
            <a:r>
              <a:rPr sz="1200" b="1" dirty="0" err="1">
                <a:solidFill>
                  <a:srgbClr val="F8FAFC"/>
                </a:solidFill>
                <a:latin typeface="Aptos"/>
              </a:rPr>
              <a:t>DataFrame</a:t>
            </a:r>
            <a:endParaRPr sz="120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187184" y="2103120"/>
            <a:ext cx="256032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536192"/>
            <a:ext cx="2011680" cy="113385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1746504"/>
            <a:ext cx="17373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057400"/>
            <a:ext cx="173736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8FAFC"/>
                </a:solidFill>
                <a:latin typeface="Aptos"/>
              </a:rPr>
              <a:t>Falcon 9 launch records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9759" y="2103120"/>
            <a:ext cx="256033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0656" y="1536192"/>
            <a:ext cx="2011680" cy="113385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57816" y="1746504"/>
            <a:ext cx="17373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2057400"/>
            <a:ext cx="173736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ptos"/>
              </a:rPr>
              <a:t>structured CSV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136392"/>
            <a:ext cx="5230368" cy="2523744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3456432"/>
            <a:ext cx="20116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BBF24"/>
                </a:solidFill>
                <a:latin typeface="Aptos"/>
              </a:rPr>
              <a:t>Core fields retained</a:t>
            </a:r>
          </a:p>
        </p:txBody>
      </p:sp>
      <p:sp>
        <p:nvSpPr>
          <p:cNvPr id="27" name="Oval 26"/>
          <p:cNvSpPr/>
          <p:nvPr/>
        </p:nvSpPr>
        <p:spPr>
          <a:xfrm>
            <a:off x="896112" y="3950208"/>
            <a:ext cx="100584" cy="10058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877056"/>
            <a:ext cx="427939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Flight number and date</a:t>
            </a:r>
          </a:p>
        </p:txBody>
      </p:sp>
      <p:sp>
        <p:nvSpPr>
          <p:cNvPr id="29" name="Oval 28"/>
          <p:cNvSpPr/>
          <p:nvPr/>
        </p:nvSpPr>
        <p:spPr>
          <a:xfrm>
            <a:off x="896112" y="4343400"/>
            <a:ext cx="100584" cy="10058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270248"/>
            <a:ext cx="427939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Booster / core configuration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4736592"/>
            <a:ext cx="100584" cy="10058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663440"/>
            <a:ext cx="427939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Payload mass and orbit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5129784"/>
            <a:ext cx="100584" cy="10058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5056632"/>
            <a:ext cx="427939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Launch site and landing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136392"/>
            <a:ext cx="5394960" cy="2523744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4224" y="3456432"/>
            <a:ext cx="20116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0C997"/>
                </a:solidFill>
                <a:latin typeface="Aptos"/>
              </a:rPr>
              <a:t>Quality controls</a:t>
            </a:r>
          </a:p>
        </p:txBody>
      </p:sp>
      <p:sp>
        <p:nvSpPr>
          <p:cNvPr id="37" name="Oval 36"/>
          <p:cNvSpPr/>
          <p:nvPr/>
        </p:nvSpPr>
        <p:spPr>
          <a:xfrm>
            <a:off x="6364224" y="3950208"/>
            <a:ext cx="100584" cy="100584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65392" y="3877056"/>
            <a:ext cx="437083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Resolve related IDs before analysis</a:t>
            </a:r>
          </a:p>
        </p:txBody>
      </p:sp>
      <p:sp>
        <p:nvSpPr>
          <p:cNvPr id="39" name="Oval 38"/>
          <p:cNvSpPr/>
          <p:nvPr/>
        </p:nvSpPr>
        <p:spPr>
          <a:xfrm>
            <a:off x="6364224" y="4343400"/>
            <a:ext cx="100584" cy="100584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5392" y="4270248"/>
            <a:ext cx="3707490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300" dirty="0">
                <a:solidFill>
                  <a:srgbClr val="F8FAFC"/>
                </a:solidFill>
                <a:latin typeface="Aptos"/>
              </a:rPr>
              <a:t>Filter irrelevant records and inspect missing values</a:t>
            </a:r>
            <a:endParaRPr sz="13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364224" y="4736592"/>
            <a:ext cx="100584" cy="100584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5392" y="4663440"/>
            <a:ext cx="437083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Preserve a repeatable extraction path</a:t>
            </a:r>
          </a:p>
        </p:txBody>
      </p:sp>
      <p:sp>
        <p:nvSpPr>
          <p:cNvPr id="43" name="Oval 42"/>
          <p:cNvSpPr/>
          <p:nvPr/>
        </p:nvSpPr>
        <p:spPr>
          <a:xfrm>
            <a:off x="6364224" y="5129784"/>
            <a:ext cx="100584" cy="100584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5056632"/>
            <a:ext cx="4370832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8FAFC"/>
                </a:solidFill>
                <a:latin typeface="Aptos"/>
              </a:rPr>
              <a:t>Store the final analytical table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Data collection — API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5F9B85-ACDB-7768-2D33-6C1E846DD826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Data collection — web scraping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6784848" cy="440740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664208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384048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82496"/>
            <a:ext cx="4138249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400" b="1" dirty="0">
                <a:solidFill>
                  <a:srgbClr val="F8FAFC"/>
                </a:solidFill>
                <a:latin typeface="Aptos"/>
              </a:rPr>
              <a:t>Request static Wikipedia launch-history snapshot</a:t>
            </a:r>
            <a:endParaRPr sz="140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152144" y="2048256"/>
            <a:ext cx="0" cy="329184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0120" y="2414016"/>
            <a:ext cx="384048" cy="38404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505456"/>
            <a:ext cx="384048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32304"/>
            <a:ext cx="5349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Parse HTML tables with BeautifulSoup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2144" y="2798064"/>
            <a:ext cx="0" cy="329184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60120" y="3163824"/>
            <a:ext cx="384048" cy="384048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255264"/>
            <a:ext cx="384048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82112"/>
            <a:ext cx="5349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Extract rows and normalize cell text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2144" y="3547872"/>
            <a:ext cx="0" cy="329184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0120" y="3913632"/>
            <a:ext cx="384048" cy="38404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384048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31920"/>
            <a:ext cx="5349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Build a structured launch-record DataFrame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52144" y="4297680"/>
            <a:ext cx="0" cy="329184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60120" y="4663440"/>
            <a:ext cx="384048" cy="384048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754879"/>
            <a:ext cx="384048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81727"/>
            <a:ext cx="5349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Validate columns and export for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17536" y="1353312"/>
            <a:ext cx="3803904" cy="440740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91856" y="1719072"/>
            <a:ext cx="24688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Aptos"/>
              </a:rPr>
              <a:t>Fields extracted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6" y="2221992"/>
            <a:ext cx="298094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55864" y="2258568"/>
            <a:ext cx="2852927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Flight No.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2697480"/>
            <a:ext cx="298094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55864" y="2734056"/>
            <a:ext cx="2852927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Launch site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3172968"/>
            <a:ext cx="298094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55864" y="3209544"/>
            <a:ext cx="2852927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Payload / orbit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3648456"/>
            <a:ext cx="298094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55864" y="3685032"/>
            <a:ext cx="2852927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Customer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4123944"/>
            <a:ext cx="298094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30830" y="4152524"/>
            <a:ext cx="1102994" cy="235449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1050" b="1" dirty="0" err="1">
                <a:solidFill>
                  <a:srgbClr val="F8FAFC"/>
                </a:solidFill>
                <a:latin typeface="Aptos"/>
              </a:rPr>
              <a:t>Launch</a:t>
            </a:r>
            <a:r>
              <a:rPr lang="es-MX" sz="105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1050" b="1" dirty="0" err="1">
                <a:solidFill>
                  <a:srgbClr val="F8FAFC"/>
                </a:solidFill>
                <a:latin typeface="Aptos"/>
              </a:rPr>
              <a:t>outcome</a:t>
            </a:r>
            <a:endParaRPr sz="105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991856" y="4599432"/>
            <a:ext cx="298094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55864" y="4636008"/>
            <a:ext cx="2852927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Booster landing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Data collection — web scraping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B8CF27-0D6A-32AF-CF28-52D3C63BD92A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Data wrangling and feature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230368" cy="170992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438912" cy="43891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B82F6"/>
                </a:solidFill>
                <a:latin typeface="Apto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21408"/>
            <a:ext cx="395935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400" b="1" dirty="0">
                <a:solidFill>
                  <a:srgbClr val="F8FAFC"/>
                </a:solidFill>
                <a:latin typeface="Aptos"/>
              </a:rPr>
              <a:t>Impute missing payload mass with the mean and inspect remaining missing values</a:t>
            </a:r>
            <a:endParaRPr sz="14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44768" y="1417320"/>
            <a:ext cx="5230368" cy="170992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737360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79" y="1691640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Aptos"/>
              </a:rPr>
              <a:t>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121408"/>
            <a:ext cx="3959352" cy="60350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Convert landing outcome to binary class 0 /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39"/>
            <a:ext cx="5230368" cy="170992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840479"/>
            <a:ext cx="438912" cy="438912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59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BBF24"/>
                </a:solidFill>
                <a:latin typeface="Aptos"/>
              </a:rPr>
              <a:t>ENCODE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24527"/>
            <a:ext cx="395935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F8FAFC"/>
                </a:solidFill>
                <a:latin typeface="Aptos"/>
              </a:rPr>
              <a:t>One-hot encode orbit, site, landing pad, and serial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520439"/>
            <a:ext cx="5230368" cy="170992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3840479"/>
            <a:ext cx="438912" cy="438912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79" y="3794759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6B6B"/>
                </a:solidFill>
                <a:latin typeface="Aptos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4224527"/>
            <a:ext cx="4030244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400" b="1" dirty="0">
                <a:solidFill>
                  <a:srgbClr val="F8FAFC"/>
                </a:solidFill>
                <a:latin typeface="Aptos"/>
              </a:rPr>
              <a:t>Standardize the feature matrix before model training</a:t>
            </a:r>
            <a:endParaRPr sz="14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5669280"/>
            <a:ext cx="10716768" cy="548640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824728"/>
            <a:ext cx="102870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Result: one analysis-ready feature matrix X and one target vector 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Data wrangling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F72A1A-E3A8-B7AB-274A-75E8C651591A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EDA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Exploratory analysis — questions before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3401568" cy="16916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64208"/>
            <a:ext cx="9144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3014374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8FAFC"/>
                </a:solidFill>
                <a:latin typeface="Aptos"/>
              </a:rPr>
              <a:t>Where do launches succeed most often?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444752"/>
            <a:ext cx="3401568" cy="16916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3" y="1664208"/>
            <a:ext cx="9144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BBF24"/>
                </a:solidFill>
                <a:latin typeface="Aptos"/>
              </a:rPr>
              <a:t>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3" y="2103120"/>
            <a:ext cx="2944368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8FAFC"/>
                </a:solidFill>
                <a:latin typeface="Aptos"/>
              </a:rPr>
              <a:t>How does mass relate to outcome?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44752"/>
            <a:ext cx="3401568" cy="16916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664208"/>
            <a:ext cx="9144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Aptos"/>
              </a:rPr>
              <a:t>ORBIT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03120"/>
            <a:ext cx="2944368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8FAFC"/>
                </a:solidFill>
                <a:latin typeface="Aptos"/>
              </a:rPr>
              <a:t>Which mission profiles are most successful?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47872"/>
            <a:ext cx="3401568" cy="16916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3767328"/>
            <a:ext cx="9144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0C997"/>
                </a:solidFill>
                <a:latin typeface="Aptos"/>
              </a:rPr>
              <a:t>BOOSTER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206240"/>
            <a:ext cx="3014374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8FAFC"/>
                </a:solidFill>
                <a:latin typeface="Aptos"/>
              </a:rPr>
              <a:t>Which configurations perform best?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5" y="3547872"/>
            <a:ext cx="3401568" cy="16916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5423" y="3767328"/>
            <a:ext cx="9144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82F6"/>
                </a:solidFill>
                <a:latin typeface="Aptos"/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4206240"/>
            <a:ext cx="3045248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8FAFC"/>
                </a:solidFill>
                <a:latin typeface="Aptos"/>
              </a:rPr>
              <a:t>Does success improve as experience grows?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3547872"/>
            <a:ext cx="3401568" cy="16916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3767328"/>
            <a:ext cx="9144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4206240"/>
            <a:ext cx="2621936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600" b="1" dirty="0">
                <a:solidFill>
                  <a:srgbClr val="F8FAFC"/>
                </a:solidFill>
                <a:latin typeface="Aptos"/>
              </a:rPr>
              <a:t>Under which conditions are</a:t>
            </a:r>
          </a:p>
          <a:p>
            <a:r>
              <a:rPr lang="en-US" sz="1600" b="1" dirty="0">
                <a:solidFill>
                  <a:srgbClr val="F8FAFC"/>
                </a:solidFill>
                <a:latin typeface="Aptos"/>
              </a:rPr>
              <a:t>failures more common?</a:t>
            </a:r>
            <a:endParaRPr sz="16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" y="5565140"/>
            <a:ext cx="1049731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AFC2D4"/>
                </a:solidFill>
                <a:latin typeface="Aptos"/>
              </a:rPr>
              <a:t>Bar charts compare site and booster performance; scatter plots examine payload vs. outcome; line charts show yearly success trends; SQL verifies exact aggregations.</a:t>
            </a:r>
            <a:endParaRPr sz="1600" b="1" dirty="0">
              <a:solidFill>
                <a:srgbClr val="AFC2D4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EDA methodology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B2884B-B122-524B-0AFA-0455EBD52A38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VISUALIZATION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EDA results — site, payload, and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43584"/>
            <a:ext cx="5623560" cy="228600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ite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69" y="1243584"/>
            <a:ext cx="5289525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72784" y="1243584"/>
            <a:ext cx="5376672" cy="228600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5705" y="1243584"/>
            <a:ext cx="5270829" cy="2285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730752"/>
            <a:ext cx="5623560" cy="226771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ayload_out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61" y="3730752"/>
            <a:ext cx="5116741" cy="22677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2784" y="3730752"/>
            <a:ext cx="5376672" cy="226771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ooster_su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541" y="3730752"/>
            <a:ext cx="4381157" cy="2267712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EDA visualization 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B9B5E-D8DF-5575-36E7-E8E5B30C6CDC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SQL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EDA with SQL — reproducible analytical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91920"/>
            <a:ext cx="402336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1517904"/>
            <a:ext cx="566928" cy="0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20240" y="1371600"/>
            <a:ext cx="19202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Aptos"/>
              </a:rPr>
              <a:t>SITE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1371600"/>
            <a:ext cx="705916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DISTINCT launch sites and CCA-prefixed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8032"/>
            <a:ext cx="402336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2414016"/>
            <a:ext cx="566928" cy="0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20240" y="2267712"/>
            <a:ext cx="19202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Aptos"/>
              </a:rPr>
              <a:t>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267712"/>
            <a:ext cx="705916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SUM and AVG payload mass by customer / booster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84144"/>
            <a:ext cx="402336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3310128"/>
            <a:ext cx="566928" cy="0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20240" y="3163824"/>
            <a:ext cx="19202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Aptos"/>
              </a:rPr>
              <a:t>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163824"/>
            <a:ext cx="705916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COUNT outcomes and drone-ship landings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80255"/>
            <a:ext cx="402336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4206239"/>
            <a:ext cx="566928" cy="0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4059935"/>
            <a:ext cx="19202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Aptos"/>
              </a:rPr>
              <a:t>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4059935"/>
            <a:ext cx="4336380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500" b="1" dirty="0">
                <a:solidFill>
                  <a:srgbClr val="F8FAFC"/>
                </a:solidFill>
                <a:latin typeface="Aptos"/>
              </a:rPr>
              <a:t>GROUP BY landing outcome and ORDER BY count</a:t>
            </a:r>
            <a:endParaRPr sz="15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976368"/>
            <a:ext cx="402336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8720" y="5102352"/>
            <a:ext cx="566928" cy="0"/>
          </a:xfrm>
          <a:prstGeom prst="line">
            <a:avLst/>
          </a:prstGeom>
          <a:ln w="254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20240" y="4956048"/>
            <a:ext cx="19202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Aptos"/>
              </a:rP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4956048"/>
            <a:ext cx="705916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Filter launch dates and compare historical periods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916168"/>
            <a:ext cx="10753344" cy="39319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2389" y="5998464"/>
            <a:ext cx="5259581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22D3EE"/>
                </a:solidFill>
                <a:latin typeface="Aptos"/>
              </a:rPr>
              <a:t>Typical pattern: SELECT → WHERE → GROUP BY → SUM / AVG / COUNT → ORDER BY</a:t>
            </a:r>
            <a:endParaRPr sz="1100" b="1" dirty="0">
              <a:solidFill>
                <a:srgbClr val="22D3EE"/>
              </a:solidFill>
              <a:latin typeface="Aptos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EDA with SQL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04D66F-38B7-33F0-FD8A-8D71E99390CE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SQL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SQL results — exact summaries support the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07592"/>
            <a:ext cx="10863072" cy="53035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472184"/>
            <a:ext cx="21031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71426"/>
                </a:solidFill>
                <a:latin typeface="Aptos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4096" y="1472184"/>
            <a:ext cx="58704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71426"/>
                </a:solidFill>
                <a:latin typeface="Apto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6105" y="1472184"/>
            <a:ext cx="314317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071426"/>
                </a:solidFill>
                <a:latin typeface="Aptos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863072" cy="630936"/>
          </a:xfrm>
          <a:prstGeom prst="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84832"/>
            <a:ext cx="20116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Aptos"/>
              </a:rPr>
              <a:t>Launch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048256"/>
            <a:ext cx="2440668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300" b="1" dirty="0">
                <a:solidFill>
                  <a:srgbClr val="F8FAFC"/>
                </a:solidFill>
                <a:latin typeface="Aptos"/>
              </a:rPr>
              <a:t>4 </a:t>
            </a:r>
            <a:r>
              <a:rPr lang="es-MX" sz="1300" b="1" dirty="0" err="1">
                <a:solidFill>
                  <a:srgbClr val="F8FAFC"/>
                </a:solidFill>
                <a:latin typeface="Aptos"/>
              </a:rPr>
              <a:t>unique</a:t>
            </a:r>
            <a:r>
              <a:rPr lang="es-MX" sz="13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1300" b="1" dirty="0" err="1">
                <a:solidFill>
                  <a:srgbClr val="F8FAFC"/>
                </a:solidFill>
                <a:latin typeface="Aptos"/>
              </a:rPr>
              <a:t>launch</a:t>
            </a:r>
            <a:r>
              <a:rPr lang="es-MX" sz="1300" b="1" dirty="0">
                <a:solidFill>
                  <a:srgbClr val="F8FAFC"/>
                </a:solidFill>
                <a:latin typeface="Aptos"/>
              </a:rPr>
              <a:t> sites </a:t>
            </a:r>
            <a:r>
              <a:rPr lang="es-MX" sz="1300" b="1" dirty="0" err="1">
                <a:solidFill>
                  <a:srgbClr val="F8FAFC"/>
                </a:solidFill>
                <a:latin typeface="Aptos"/>
              </a:rPr>
              <a:t>identified</a:t>
            </a:r>
            <a:endParaRPr sz="13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0" y="2066544"/>
            <a:ext cx="170078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08008" y="2103120"/>
            <a:ext cx="1572768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AFC2D4"/>
                </a:solidFill>
                <a:latin typeface="Aptos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88336"/>
            <a:ext cx="10863072" cy="630936"/>
          </a:xfrm>
          <a:prstGeom prst="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2852928"/>
            <a:ext cx="1834605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200" b="1" dirty="0">
                <a:solidFill>
                  <a:srgbClr val="22D3EE"/>
                </a:solidFill>
                <a:latin typeface="Aptos"/>
              </a:rPr>
              <a:t>NASA (CRS) total </a:t>
            </a:r>
            <a:r>
              <a:rPr lang="es-MX" sz="1200" b="1" dirty="0" err="1">
                <a:solidFill>
                  <a:srgbClr val="22D3EE"/>
                </a:solidFill>
                <a:latin typeface="Aptos"/>
              </a:rPr>
              <a:t>payload</a:t>
            </a:r>
            <a:endParaRPr sz="1200" b="1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54096" y="2816352"/>
            <a:ext cx="2961901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300" b="1" dirty="0">
                <a:solidFill>
                  <a:srgbClr val="F8FAFC"/>
                </a:solidFill>
                <a:latin typeface="Aptos"/>
              </a:rPr>
              <a:t>45,596 kg total payload for NASA (CRS)</a:t>
            </a:r>
            <a:endParaRPr sz="13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0" y="2834640"/>
            <a:ext cx="170078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92775" y="2863220"/>
            <a:ext cx="803233" cy="235449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Aggregation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8368" y="3456432"/>
            <a:ext cx="10863072" cy="630936"/>
          </a:xfrm>
          <a:prstGeom prst="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621024"/>
            <a:ext cx="1719253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200" b="1" dirty="0">
                <a:solidFill>
                  <a:srgbClr val="22D3EE"/>
                </a:solidFill>
                <a:latin typeface="Aptos"/>
              </a:rPr>
              <a:t>F9 v1.1 </a:t>
            </a:r>
            <a:r>
              <a:rPr lang="es-MX" sz="1200" b="1" dirty="0" err="1">
                <a:solidFill>
                  <a:srgbClr val="22D3EE"/>
                </a:solidFill>
                <a:latin typeface="Aptos"/>
              </a:rPr>
              <a:t>average</a:t>
            </a:r>
            <a:r>
              <a:rPr lang="es-MX" sz="1200" b="1" dirty="0">
                <a:solidFill>
                  <a:srgbClr val="22D3EE"/>
                </a:solidFill>
                <a:latin typeface="Aptos"/>
              </a:rPr>
              <a:t> </a:t>
            </a:r>
            <a:r>
              <a:rPr lang="es-MX" sz="1200" b="1" dirty="0" err="1">
                <a:solidFill>
                  <a:srgbClr val="22D3EE"/>
                </a:solidFill>
                <a:latin typeface="Aptos"/>
              </a:rPr>
              <a:t>payload</a:t>
            </a:r>
            <a:endParaRPr sz="1200" b="1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54096" y="3584448"/>
            <a:ext cx="2693366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300" b="1" dirty="0">
                <a:solidFill>
                  <a:srgbClr val="F8FAFC"/>
                </a:solidFill>
                <a:latin typeface="Aptos"/>
              </a:rPr>
              <a:t>≈2,928 kg average payload (F9 v1.1)</a:t>
            </a:r>
            <a:endParaRPr sz="13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0" y="3602736"/>
            <a:ext cx="170078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92775" y="3631316"/>
            <a:ext cx="803233" cy="235449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Aggregation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" y="4224528"/>
            <a:ext cx="10863072" cy="630936"/>
          </a:xfrm>
          <a:prstGeom prst="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389120"/>
            <a:ext cx="1777346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200" b="1" dirty="0">
                <a:solidFill>
                  <a:srgbClr val="22D3EE"/>
                </a:solidFill>
                <a:latin typeface="Aptos"/>
              </a:rPr>
              <a:t>First </a:t>
            </a:r>
            <a:r>
              <a:rPr lang="es-MX" sz="1200" b="1" dirty="0" err="1">
                <a:solidFill>
                  <a:srgbClr val="22D3EE"/>
                </a:solidFill>
                <a:latin typeface="Aptos"/>
              </a:rPr>
              <a:t>ground-pad</a:t>
            </a:r>
            <a:r>
              <a:rPr lang="es-MX" sz="1200" b="1" dirty="0">
                <a:solidFill>
                  <a:srgbClr val="22D3EE"/>
                </a:solidFill>
                <a:latin typeface="Aptos"/>
              </a:rPr>
              <a:t> </a:t>
            </a:r>
            <a:r>
              <a:rPr lang="es-MX" sz="1200" b="1" dirty="0" err="1">
                <a:solidFill>
                  <a:srgbClr val="22D3EE"/>
                </a:solidFill>
                <a:latin typeface="Aptos"/>
              </a:rPr>
              <a:t>landing</a:t>
            </a:r>
            <a:endParaRPr sz="1200" b="1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54096" y="4352544"/>
            <a:ext cx="1979453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300" b="1" dirty="0">
                <a:solidFill>
                  <a:srgbClr val="F8FAFC"/>
                </a:solidFill>
                <a:latin typeface="Aptos"/>
              </a:rPr>
              <a:t>First </a:t>
            </a:r>
            <a:r>
              <a:rPr lang="es-MX" sz="1300" b="1" dirty="0" err="1">
                <a:solidFill>
                  <a:srgbClr val="F8FAFC"/>
                </a:solidFill>
                <a:latin typeface="Aptos"/>
              </a:rPr>
              <a:t>success</a:t>
            </a:r>
            <a:r>
              <a:rPr lang="es-MX" sz="1300" b="1" dirty="0">
                <a:solidFill>
                  <a:srgbClr val="F8FAFC"/>
                </a:solidFill>
                <a:latin typeface="Aptos"/>
              </a:rPr>
              <a:t>: 2015-12-22</a:t>
            </a:r>
            <a:endParaRPr sz="13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0" y="4370832"/>
            <a:ext cx="170078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07578" y="4399412"/>
            <a:ext cx="373628" cy="235449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1050" b="1" dirty="0">
                <a:solidFill>
                  <a:srgbClr val="AFC2D4"/>
                </a:solidFill>
                <a:latin typeface="Aptos"/>
              </a:rPr>
              <a:t>Time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" y="4992624"/>
            <a:ext cx="10863072" cy="630936"/>
          </a:xfrm>
          <a:prstGeom prst="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5157216"/>
            <a:ext cx="1858522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200" b="1" dirty="0">
                <a:solidFill>
                  <a:srgbClr val="22D3EE"/>
                </a:solidFill>
                <a:latin typeface="Aptos"/>
              </a:rPr>
              <a:t>Landing-</a:t>
            </a:r>
            <a:r>
              <a:rPr lang="es-MX" sz="1200" b="1" dirty="0" err="1">
                <a:solidFill>
                  <a:srgbClr val="22D3EE"/>
                </a:solidFill>
                <a:latin typeface="Aptos"/>
              </a:rPr>
              <a:t>outcome</a:t>
            </a:r>
            <a:r>
              <a:rPr lang="es-MX" sz="1200" b="1" dirty="0">
                <a:solidFill>
                  <a:srgbClr val="22D3EE"/>
                </a:solidFill>
                <a:latin typeface="Aptos"/>
              </a:rPr>
              <a:t> ranking</a:t>
            </a:r>
            <a:endParaRPr sz="1200" b="1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54096" y="5120640"/>
            <a:ext cx="4390113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300" b="1" dirty="0">
                <a:solidFill>
                  <a:srgbClr val="F8FAFC"/>
                </a:solidFill>
                <a:latin typeface="Aptos"/>
              </a:rPr>
              <a:t>No attempt 10; drone-ship failure 5; drone-ship success 5</a:t>
            </a:r>
            <a:endParaRPr sz="13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44000" y="5138928"/>
            <a:ext cx="1700784" cy="329184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10596" y="5167508"/>
            <a:ext cx="567591" cy="235449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1050" b="1" dirty="0">
                <a:solidFill>
                  <a:srgbClr val="AFC2D4"/>
                </a:solidFill>
                <a:latin typeface="Aptos"/>
              </a:rPr>
              <a:t>Ranking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EDA with SQL results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A2F016-BC15-6CB1-B8C8-52B6D79DE3C1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MAP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Interactive geospatial analytics with Folium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35024"/>
            <a:ext cx="6876288" cy="449884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655064"/>
            <a:ext cx="164592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MAP LAYERS</a:t>
            </a:r>
          </a:p>
        </p:txBody>
      </p:sp>
      <p:sp>
        <p:nvSpPr>
          <p:cNvPr id="8" name="Oval 7"/>
          <p:cNvSpPr/>
          <p:nvPr/>
        </p:nvSpPr>
        <p:spPr>
          <a:xfrm>
            <a:off x="950976" y="2084831"/>
            <a:ext cx="347472" cy="34747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167127"/>
            <a:ext cx="34747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42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66543"/>
            <a:ext cx="1874519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Launch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066543"/>
            <a:ext cx="1179234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300" dirty="0" err="1">
                <a:solidFill>
                  <a:srgbClr val="AFC2D4"/>
                </a:solidFill>
                <a:latin typeface="Aptos"/>
              </a:rPr>
              <a:t>Circles</a:t>
            </a:r>
            <a:r>
              <a:rPr lang="es-MX" sz="1300" dirty="0">
                <a:solidFill>
                  <a:srgbClr val="AFC2D4"/>
                </a:solidFill>
                <a:latin typeface="Aptos"/>
              </a:rPr>
              <a:t> + </a:t>
            </a:r>
            <a:r>
              <a:rPr lang="es-MX" sz="1300" dirty="0" err="1">
                <a:solidFill>
                  <a:srgbClr val="AFC2D4"/>
                </a:solidFill>
                <a:latin typeface="Aptos"/>
              </a:rPr>
              <a:t>labels</a:t>
            </a:r>
            <a:endParaRPr sz="1300" b="0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50976" y="2889503"/>
            <a:ext cx="347472" cy="347472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971799"/>
            <a:ext cx="34747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42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71215"/>
            <a:ext cx="1874519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Launch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871215"/>
            <a:ext cx="34747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2D4"/>
                </a:solidFill>
                <a:latin typeface="Aptos"/>
              </a:rPr>
              <a:t>Green success / red failure markers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694176"/>
            <a:ext cx="347472" cy="347472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776472"/>
            <a:ext cx="34747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42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75888"/>
            <a:ext cx="1874519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Clusters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675888"/>
            <a:ext cx="34747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2D4"/>
                </a:solidFill>
                <a:latin typeface="Aptos"/>
              </a:rPr>
              <a:t>MarkerCluster for overlapping launches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" y="4498848"/>
            <a:ext cx="347472" cy="347472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581144"/>
            <a:ext cx="34747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426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1874519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Proximity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4480560"/>
            <a:ext cx="34747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2D4"/>
                </a:solidFill>
                <a:latin typeface="Aptos"/>
              </a:rPr>
              <a:t>MousePosition + distance 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1335024"/>
            <a:ext cx="3730752" cy="449884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3296" y="1655064"/>
            <a:ext cx="24688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BBF24"/>
                </a:solidFill>
                <a:latin typeface="Aptos"/>
              </a:rPr>
              <a:t>PROXIMITY TESTS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0" y="2322576"/>
            <a:ext cx="502920" cy="0"/>
          </a:xfrm>
          <a:prstGeom prst="line">
            <a:avLst/>
          </a:prstGeom>
          <a:ln w="508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79408" y="2212848"/>
            <a:ext cx="20574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Coastline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2980944"/>
            <a:ext cx="502920" cy="0"/>
          </a:xfrm>
          <a:prstGeom prst="line">
            <a:avLst/>
          </a:prstGeom>
          <a:ln w="508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979408" y="2871215"/>
            <a:ext cx="770211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400" b="1" dirty="0" err="1">
                <a:solidFill>
                  <a:srgbClr val="F8FAFC"/>
                </a:solidFill>
                <a:latin typeface="Aptos"/>
              </a:rPr>
              <a:t>Highway</a:t>
            </a:r>
            <a:endParaRPr sz="140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229600" y="3639312"/>
            <a:ext cx="50292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979408" y="3529584"/>
            <a:ext cx="20574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Railway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0" y="4297680"/>
            <a:ext cx="502920" cy="0"/>
          </a:xfrm>
          <a:prstGeom prst="line">
            <a:avLst/>
          </a:prstGeom>
          <a:ln w="508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79408" y="4187952"/>
            <a:ext cx="20574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City / population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5" y="5001768"/>
            <a:ext cx="310051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300" b="1" dirty="0">
                <a:solidFill>
                  <a:srgbClr val="AFC2D4"/>
                </a:solidFill>
                <a:latin typeface="Aptos"/>
              </a:rPr>
              <a:t>Goal: explore geographic patterns around launch facilities.</a:t>
            </a:r>
            <a:endParaRPr sz="1300" b="1" dirty="0">
              <a:solidFill>
                <a:srgbClr val="AFC2D4"/>
              </a:solidFill>
              <a:latin typeface="Aptos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Interactive maps — Folium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E23E8-373E-3330-8BBD-24CBBC96DF8D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MAP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7993791" cy="4893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2700" b="1" dirty="0" err="1">
                <a:solidFill>
                  <a:srgbClr val="F8FAFC"/>
                </a:solidFill>
                <a:latin typeface="Aptos"/>
              </a:rPr>
              <a:t>Folium</a:t>
            </a:r>
            <a:r>
              <a:rPr lang="es-MX" sz="27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2700" b="1" dirty="0" err="1">
                <a:solidFill>
                  <a:srgbClr val="F8FAFC"/>
                </a:solidFill>
                <a:latin typeface="Aptos"/>
              </a:rPr>
              <a:t>results</a:t>
            </a:r>
            <a:r>
              <a:rPr lang="es-MX" sz="2700" b="1" dirty="0">
                <a:solidFill>
                  <a:srgbClr val="F8FAFC"/>
                </a:solidFill>
                <a:latin typeface="Aptos"/>
              </a:rPr>
              <a:t> — CCAFS SLC-40 </a:t>
            </a:r>
            <a:r>
              <a:rPr lang="es-MX" sz="2700" b="1" dirty="0" err="1">
                <a:solidFill>
                  <a:srgbClr val="F8FAFC"/>
                </a:solidFill>
                <a:latin typeface="Aptos"/>
              </a:rPr>
              <a:t>proximity</a:t>
            </a:r>
            <a:r>
              <a:rPr lang="es-MX" sz="2700" b="1" dirty="0">
                <a:solidFill>
                  <a:srgbClr val="F8FAFC"/>
                </a:solidFill>
                <a:latin typeface="Aptos"/>
              </a:rPr>
              <a:t> </a:t>
            </a:r>
            <a:r>
              <a:rPr lang="es-MX" sz="2700" b="1" dirty="0" err="1">
                <a:solidFill>
                  <a:srgbClr val="F8FAFC"/>
                </a:solidFill>
                <a:latin typeface="Aptos"/>
              </a:rPr>
              <a:t>analysis</a:t>
            </a:r>
            <a:endParaRPr sz="2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99248" y="1298448"/>
            <a:ext cx="3822191" cy="455371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3743978-F24A-587A-297B-AC7D1505C87B}"/>
              </a:ext>
            </a:extLst>
          </p:cNvPr>
          <p:cNvGrpSpPr/>
          <p:nvPr/>
        </p:nvGrpSpPr>
        <p:grpSpPr>
          <a:xfrm>
            <a:off x="8028433" y="1664208"/>
            <a:ext cx="2883146" cy="3567828"/>
            <a:chOff x="7914363" y="1664208"/>
            <a:chExt cx="3517402" cy="2467665"/>
          </a:xfrm>
        </p:grpSpPr>
        <p:sp>
          <p:nvSpPr>
            <p:cNvPr id="25" name="TextBox 24"/>
            <p:cNvSpPr txBox="1"/>
            <p:nvPr/>
          </p:nvSpPr>
          <p:spPr>
            <a:xfrm>
              <a:off x="7982712" y="1664208"/>
              <a:ext cx="3449053" cy="381040"/>
            </a:xfrm>
            <a:prstGeom prst="rect">
              <a:avLst/>
            </a:prstGeom>
            <a:noFill/>
          </p:spPr>
          <p:txBody>
            <a:bodyPr wrap="none" lIns="36576" tIns="36576" rIns="36576" bIns="36576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1" dirty="0">
                  <a:solidFill>
                    <a:srgbClr val="22D3EE"/>
                  </a:solidFill>
                  <a:latin typeface="Aptos"/>
                </a:rPr>
                <a:t>Key geographic findings</a:t>
              </a:r>
              <a:endParaRPr lang="en-US" sz="2000" b="1" dirty="0">
                <a:solidFill>
                  <a:srgbClr val="22D3EE"/>
                </a:solidFill>
                <a:latin typeface="Aptos"/>
              </a:endParaRPr>
            </a:p>
            <a:p>
              <a:r>
                <a:rPr lang="en-US" sz="1100" b="1" dirty="0">
                  <a:solidFill>
                    <a:srgbClr val="22D3EE"/>
                  </a:solidFill>
                  <a:latin typeface="Aptos"/>
                </a:rPr>
                <a:t>Measured proximity from CCAFS SLC-40</a:t>
              </a:r>
              <a:endParaRPr sz="1100" b="1" dirty="0">
                <a:solidFill>
                  <a:srgbClr val="22D3EE"/>
                </a:solidFill>
                <a:latin typeface="Aptos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7914363" y="2322576"/>
              <a:ext cx="168934" cy="96789"/>
            </a:xfrm>
            <a:prstGeom prst="ellipse">
              <a:avLst/>
            </a:prstGeom>
            <a:solidFill>
              <a:srgbClr val="FBBF24"/>
            </a:solidFill>
            <a:ln>
              <a:solidFill>
                <a:srgbClr val="FBBF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183880" y="2241804"/>
              <a:ext cx="3044952" cy="26396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en-US" sz="2000" dirty="0">
                  <a:solidFill>
                    <a:srgbClr val="F8FAFC"/>
                  </a:solidFill>
                  <a:latin typeface="Aptos"/>
                </a:rPr>
                <a:t>Railway: 0.12 km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7914364" y="2862072"/>
              <a:ext cx="168934" cy="96789"/>
            </a:xfrm>
            <a:prstGeom prst="ellipse">
              <a:avLst/>
            </a:prstGeom>
            <a:solidFill>
              <a:srgbClr val="FBBF24"/>
            </a:solidFill>
            <a:ln>
              <a:solidFill>
                <a:srgbClr val="FBBF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183880" y="2781300"/>
              <a:ext cx="2743200" cy="26396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en-US" sz="2000" dirty="0">
                  <a:solidFill>
                    <a:srgbClr val="F8FAFC"/>
                  </a:solidFill>
                  <a:latin typeface="Aptos"/>
                </a:rPr>
                <a:t>Highway: 0.61 km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7914364" y="3401568"/>
              <a:ext cx="168934" cy="96789"/>
            </a:xfrm>
            <a:prstGeom prst="ellipse">
              <a:avLst/>
            </a:prstGeom>
            <a:solidFill>
              <a:srgbClr val="FBBF24"/>
            </a:solidFill>
            <a:ln>
              <a:solidFill>
                <a:srgbClr val="FBBF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183880" y="3320795"/>
              <a:ext cx="3083888" cy="26396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en-US" sz="2000" dirty="0">
                  <a:solidFill>
                    <a:srgbClr val="F8FAFC"/>
                  </a:solidFill>
                  <a:latin typeface="Aptos"/>
                </a:rPr>
                <a:t>Coastline: 0.86 km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7914363" y="3941064"/>
              <a:ext cx="168934" cy="96789"/>
            </a:xfrm>
            <a:prstGeom prst="ellipse">
              <a:avLst/>
            </a:prstGeom>
            <a:solidFill>
              <a:srgbClr val="FBBF24"/>
            </a:solidFill>
            <a:ln>
              <a:solidFill>
                <a:srgbClr val="FBBF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183880" y="3867912"/>
              <a:ext cx="2743200" cy="26396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r>
                <a:rPr lang="en-US" sz="2000" dirty="0">
                  <a:solidFill>
                    <a:srgbClr val="F8FAFC"/>
                  </a:solidFill>
                  <a:latin typeface="Aptos"/>
                </a:rPr>
                <a:t>City: 18.36 km</a:t>
              </a:r>
            </a:p>
          </p:txBody>
        </p:sp>
      </p:grpSp>
      <p:cxnSp>
        <p:nvCxnSpPr>
          <p:cNvPr id="36" name="Connector 35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Folium result summary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226CBE-A34F-0CEB-0304-45BB596752E1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  <p:sp>
        <p:nvSpPr>
          <p:cNvPr id="42" name="Rounded Rectangle 23">
            <a:extLst>
              <a:ext uri="{FF2B5EF4-FFF2-40B4-BE49-F238E27FC236}">
                <a16:creationId xmlns:a16="http://schemas.microsoft.com/office/drawing/2014/main" id="{FE9D6863-9914-A691-BAB5-060A2ED642CF}"/>
              </a:ext>
            </a:extLst>
          </p:cNvPr>
          <p:cNvSpPr/>
          <p:nvPr/>
        </p:nvSpPr>
        <p:spPr>
          <a:xfrm>
            <a:off x="138787" y="1298447"/>
            <a:ext cx="6966102" cy="502005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4601FE1-FE9F-DF79-0F11-93B97D1B7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11" y="1371600"/>
            <a:ext cx="6007262" cy="48971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DASHBOARD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Plotly Dash — turning analysis into an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3054096" cy="449884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82496"/>
            <a:ext cx="10972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39696"/>
            <a:ext cx="2487168" cy="329184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6" y="2206752"/>
            <a:ext cx="2359152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8FAFC"/>
                </a:solidFill>
                <a:latin typeface="Aptos"/>
              </a:rPr>
              <a:t>Launch-site dropdown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715768"/>
            <a:ext cx="2487168" cy="329184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2782824"/>
            <a:ext cx="2359152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8FAFC"/>
                </a:solidFill>
                <a:latin typeface="Aptos"/>
              </a:rPr>
              <a:t>Payload range slider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93008"/>
            <a:ext cx="1554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BBF24"/>
                </a:solidFill>
                <a:latin typeface="Aptos"/>
              </a:rPr>
              <a:t>USER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22776"/>
            <a:ext cx="2487168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dirty="0">
                <a:solidFill>
                  <a:srgbClr val="F8FAFC"/>
                </a:solidFill>
                <a:latin typeface="Aptos"/>
              </a:rPr>
              <a:t>Select a site and constrain payload mass.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22191" y="3557016"/>
            <a:ext cx="795529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36592" y="1371600"/>
            <a:ext cx="3054096" cy="449884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1682496"/>
            <a:ext cx="137160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CALLBACKS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157984"/>
            <a:ext cx="2432304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s-MX" sz="1700" b="1" dirty="0">
                <a:solidFill>
                  <a:srgbClr val="F8FAFC"/>
                </a:solidFill>
                <a:latin typeface="Aptos"/>
              </a:rPr>
              <a:t>Site </a:t>
            </a:r>
            <a:r>
              <a:rPr lang="es-MX" sz="1700" b="1" dirty="0" err="1">
                <a:solidFill>
                  <a:srgbClr val="F8FAFC"/>
                </a:solidFill>
                <a:latin typeface="Aptos"/>
              </a:rPr>
              <a:t>dropdown</a:t>
            </a:r>
            <a:r>
              <a:rPr lang="es-MX" sz="1700" b="1" dirty="0">
                <a:solidFill>
                  <a:srgbClr val="F8FAFC"/>
                </a:solidFill>
                <a:latin typeface="Aptos"/>
              </a:rPr>
              <a:t> → </a:t>
            </a:r>
            <a:r>
              <a:rPr lang="es-MX" sz="1700" b="1" dirty="0" err="1">
                <a:solidFill>
                  <a:srgbClr val="F8FAFC"/>
                </a:solidFill>
                <a:latin typeface="Aptos"/>
              </a:rPr>
              <a:t>success</a:t>
            </a:r>
            <a:r>
              <a:rPr lang="es-MX" sz="1700" b="1" dirty="0">
                <a:solidFill>
                  <a:srgbClr val="F8FAFC"/>
                </a:solidFill>
                <a:latin typeface="Aptos"/>
              </a:rPr>
              <a:t> pie chart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10912" y="3310128"/>
            <a:ext cx="2432304" cy="8586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Aptos"/>
              </a:rPr>
              <a:t>Site dropdown + payload slider → payload scatter plot</a:t>
            </a:r>
            <a:endParaRPr sz="17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18704" y="3557016"/>
            <a:ext cx="786384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33104" y="1371600"/>
            <a:ext cx="2688336" cy="449884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07424" y="1682496"/>
            <a:ext cx="137160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4" y="2139696"/>
            <a:ext cx="2139696" cy="329184"/>
          </a:xfrm>
          <a:prstGeom prst="roundRect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2206752"/>
            <a:ext cx="201167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8FAFC"/>
                </a:solidFill>
                <a:latin typeface="Aptos"/>
              </a:rPr>
              <a:t>Success pie chart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2715768"/>
            <a:ext cx="2139696" cy="32918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1432" y="2782824"/>
            <a:ext cx="201167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Payload scatter plot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3657600"/>
            <a:ext cx="2151888" cy="1120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700" b="1" dirty="0">
                <a:solidFill>
                  <a:srgbClr val="F8FAFC"/>
                </a:solidFill>
                <a:latin typeface="Aptos"/>
              </a:rPr>
              <a:t>Figures update interactively when relevant inputs change.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Interactive dashboard — Plotly Dash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2159C3-FCC4-095A-BEA2-D249209406A6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DASHBOARD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7934544" cy="4893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2700" b="1" dirty="0">
                <a:solidFill>
                  <a:srgbClr val="F8FAFC"/>
                </a:solidFill>
                <a:latin typeface="Aptos"/>
              </a:rPr>
              <a:t>Dash results — site selection and payload filtering</a:t>
            </a:r>
            <a:endParaRPr sz="2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261871"/>
            <a:ext cx="7178040" cy="4837173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27848" y="1261872"/>
            <a:ext cx="3639312" cy="436168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09344"/>
            <a:ext cx="25146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Aptos"/>
              </a:rPr>
              <a:t>Observed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103120"/>
            <a:ext cx="2926080" cy="10058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2212848"/>
            <a:ext cx="921855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2400" b="1" dirty="0">
                <a:solidFill>
                  <a:srgbClr val="FBBF24"/>
                </a:solidFill>
                <a:latin typeface="Aptos"/>
              </a:rPr>
              <a:t>42.9%</a:t>
            </a:r>
            <a:endParaRPr sz="2400" b="1" dirty="0">
              <a:solidFill>
                <a:srgbClr val="FBBF2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02752" y="2633472"/>
            <a:ext cx="1769843" cy="23544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050" b="1" dirty="0">
                <a:solidFill>
                  <a:srgbClr val="AFC2D4"/>
                </a:solidFill>
                <a:latin typeface="Aptos"/>
              </a:rPr>
              <a:t>CCAFS SLC-40 </a:t>
            </a: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success</a:t>
            </a:r>
            <a:r>
              <a:rPr lang="es-MX" sz="1050" b="1" dirty="0">
                <a:solidFill>
                  <a:srgbClr val="AFC2D4"/>
                </a:solidFill>
                <a:latin typeface="Aptos"/>
              </a:rPr>
              <a:t> </a:t>
            </a:r>
            <a:r>
              <a:rPr lang="es-MX" sz="1050" b="1" dirty="0" err="1">
                <a:solidFill>
                  <a:srgbClr val="AFC2D4"/>
                </a:solidFill>
                <a:latin typeface="Aptos"/>
              </a:rPr>
              <a:t>rate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93024" y="3328416"/>
            <a:ext cx="2926080" cy="1005840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3438144"/>
            <a:ext cx="808042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2400" b="1" dirty="0">
                <a:solidFill>
                  <a:srgbClr val="20C997"/>
                </a:solidFill>
                <a:latin typeface="Aptos"/>
              </a:rPr>
              <a:t>3 </a:t>
            </a:r>
            <a:r>
              <a:rPr lang="es-MX" sz="2400" b="1" dirty="0" err="1">
                <a:solidFill>
                  <a:srgbClr val="20C997"/>
                </a:solidFill>
                <a:latin typeface="Aptos"/>
              </a:rPr>
              <a:t>of</a:t>
            </a:r>
            <a:r>
              <a:rPr lang="es-MX" sz="2400" b="1" dirty="0">
                <a:solidFill>
                  <a:srgbClr val="20C997"/>
                </a:solidFill>
                <a:latin typeface="Aptos"/>
              </a:rPr>
              <a:t> 7</a:t>
            </a:r>
            <a:endParaRPr sz="2400" b="1" dirty="0">
              <a:solidFill>
                <a:srgbClr val="20C99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2752" y="3858768"/>
            <a:ext cx="2733249" cy="23544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050" b="1" dirty="0">
                <a:solidFill>
                  <a:srgbClr val="AFC2D4"/>
                </a:solidFill>
                <a:latin typeface="Aptos"/>
              </a:rPr>
              <a:t>launches at CCAFS SLC-40 were successful</a:t>
            </a:r>
            <a:endParaRPr sz="105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3024" y="4690872"/>
            <a:ext cx="292608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200" b="1" dirty="0">
                <a:solidFill>
                  <a:srgbClr val="AFC2D4"/>
                </a:solidFill>
                <a:latin typeface="Aptos"/>
              </a:rPr>
              <a:t>The payload slider filters the scatter plot; the site dropdown updates both visuals through callbacks.</a:t>
            </a:r>
            <a:endParaRPr sz="1200" b="1" dirty="0">
              <a:solidFill>
                <a:srgbClr val="AFC2D4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Plotly Dash result evidence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61B28E-3622-D090-8DFD-2CD0F838F481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F002C9-72CA-A4F3-7089-FDE41A94A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98" y="1261871"/>
            <a:ext cx="5468675" cy="48371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CLASSIFICATION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8390374" cy="4893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2700" b="1" dirty="0">
                <a:solidFill>
                  <a:srgbClr val="F8FAFC"/>
                </a:solidFill>
                <a:latin typeface="Aptos"/>
              </a:rPr>
              <a:t>Predictive analysis — model training and comparison</a:t>
            </a:r>
            <a:endParaRPr sz="2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2514600" cy="157276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45920"/>
            <a:ext cx="2084831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82F6"/>
                </a:solidFill>
                <a:latin typeface="Aptos"/>
              </a:rP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48256"/>
            <a:ext cx="2084831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80% train / 20% test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random_state =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176272"/>
            <a:ext cx="283464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7288" y="1389888"/>
            <a:ext cx="2514600" cy="157276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8456" y="1645920"/>
            <a:ext cx="2084831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ptos"/>
              </a:rPr>
              <a:t>STANDARDIZE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048256"/>
            <a:ext cx="2084831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Fit scaling on X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reassign transformed 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2176272"/>
            <a:ext cx="283464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0216" y="1389888"/>
            <a:ext cx="2514600" cy="157276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645920"/>
            <a:ext cx="2084831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Aptos"/>
              </a:rPr>
              <a:t>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048256"/>
            <a:ext cx="2084831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GridSearchCV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10-fold CV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14816" y="2176272"/>
            <a:ext cx="283464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53144" y="1389888"/>
            <a:ext cx="2514600" cy="157276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1645920"/>
            <a:ext cx="2084831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6B"/>
                </a:solidFill>
                <a:latin typeface="Aptos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048256"/>
            <a:ext cx="2084831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Holdout accuracy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ptos"/>
              </a:rPr>
              <a:t>confusion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493008"/>
            <a:ext cx="19202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Aptos"/>
              </a:rPr>
              <a:t>Models evaluated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13632"/>
            <a:ext cx="5230368" cy="72237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59" y="4096512"/>
            <a:ext cx="310896" cy="310896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16736" y="4140656"/>
            <a:ext cx="242316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Aptos"/>
              </a:rPr>
              <a:t>Logistic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4158944"/>
            <a:ext cx="1993392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FC2D4"/>
                </a:solidFill>
                <a:latin typeface="Aptos"/>
              </a:rPr>
              <a:t>C · penalty · solver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5" y="3913632"/>
            <a:ext cx="5230368" cy="72237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27647" y="4096512"/>
            <a:ext cx="310896" cy="31089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21423" y="4140656"/>
            <a:ext cx="242316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Aptos"/>
              </a:rPr>
              <a:t>Support Vector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5" y="4158944"/>
            <a:ext cx="1993392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FC2D4"/>
                </a:solidFill>
                <a:latin typeface="Aptos"/>
              </a:rPr>
              <a:t>C · gamma · kernel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46320"/>
            <a:ext cx="5230368" cy="72237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59" y="5029200"/>
            <a:ext cx="310896" cy="310896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16736" y="5073344"/>
            <a:ext cx="242316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Aptos"/>
              </a:rPr>
              <a:t>Decision 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4069" y="5091632"/>
            <a:ext cx="2948051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100" b="1" dirty="0">
                <a:solidFill>
                  <a:srgbClr val="AFC2D4"/>
                </a:solidFill>
                <a:latin typeface="Aptos"/>
              </a:rPr>
              <a:t>criterion · depth · splitter · features · samples</a:t>
            </a:r>
            <a:endParaRPr sz="110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163055" y="4846320"/>
            <a:ext cx="5230368" cy="722376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27647" y="5029200"/>
            <a:ext cx="310896" cy="310896"/>
          </a:xfrm>
          <a:prstGeom prst="ellipse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1423" y="5073344"/>
            <a:ext cx="242316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Aptos"/>
              </a:rPr>
              <a:t>K-Nearest Neighbors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3415" y="5091632"/>
            <a:ext cx="1993392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FC2D4"/>
                </a:solidFill>
                <a:latin typeface="Aptos"/>
              </a:rPr>
              <a:t>neighbors · algorithm · 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Predictive analysis methodology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537A70-5FCC-E334-09BA-535043B88EDE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CLASSIFICATION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9170780" cy="4893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2700" b="1" dirty="0">
                <a:solidFill>
                  <a:srgbClr val="F8FAFC"/>
                </a:solidFill>
                <a:latin typeface="Aptos"/>
              </a:rPr>
              <a:t>Model results — cross-validation vs. holdout performance</a:t>
            </a:r>
            <a:endParaRPr sz="2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298447"/>
            <a:ext cx="4992624" cy="4823299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29271"/>
            <a:ext cx="21031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22D3EE"/>
                </a:solidFill>
                <a:latin typeface="Aptos"/>
              </a:rPr>
              <a:t>Verified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1200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999488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4640" y="1999488"/>
            <a:ext cx="1866153" cy="25603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2017776"/>
            <a:ext cx="105156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071426"/>
                </a:solidFill>
                <a:latin typeface="Aptos"/>
              </a:rPr>
              <a:t>CV 84.6%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374392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34640" y="2374392"/>
            <a:ext cx="1783079" cy="25603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44368" y="2392680"/>
            <a:ext cx="105156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Test 83.3%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67584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ptos"/>
              </a:rPr>
              <a:t>SVM — sigmoid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2785872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34640" y="2785872"/>
            <a:ext cx="1899757" cy="25603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44368" y="2804160"/>
            <a:ext cx="105156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CV 84.8%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130296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34641" y="3130296"/>
            <a:ext cx="1783078" cy="25603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44368" y="3148584"/>
            <a:ext cx="105156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Test 83.3%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30" y="5283563"/>
            <a:ext cx="4279392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100" b="1" dirty="0">
                <a:solidFill>
                  <a:srgbClr val="AFC2D4"/>
                </a:solidFill>
                <a:latin typeface="Aptos"/>
              </a:rPr>
              <a:t>Decision Tree achieved the highest CV score (90.4%), while Logistic Regression, SVM, and KNN tied for the best holdout accuracy at 83.3%.</a:t>
            </a:r>
            <a:endParaRPr sz="1100" b="1" dirty="0">
              <a:solidFill>
                <a:srgbClr val="AFC2D4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897880" y="1298448"/>
            <a:ext cx="5623560" cy="4823298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Predictive analysis results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5391A4-F757-608D-6468-1772A78278FB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54595B-0996-F91A-E92E-DFAAE7B2FDD8}"/>
              </a:ext>
            </a:extLst>
          </p:cNvPr>
          <p:cNvSpPr txBox="1"/>
          <p:nvPr/>
        </p:nvSpPr>
        <p:spPr>
          <a:xfrm>
            <a:off x="932688" y="3541776"/>
            <a:ext cx="1022203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200" b="1" dirty="0" err="1">
                <a:solidFill>
                  <a:srgbClr val="F8FAFC"/>
                </a:solidFill>
                <a:latin typeface="Aptos"/>
              </a:rPr>
              <a:t>Decision</a:t>
            </a:r>
            <a:r>
              <a:rPr lang="es-MX" sz="1200" b="1" dirty="0">
                <a:solidFill>
                  <a:srgbClr val="F8FAFC"/>
                </a:solidFill>
                <a:latin typeface="Aptos"/>
              </a:rPr>
              <a:t> Tree</a:t>
            </a:r>
            <a:endParaRPr sz="12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50" name="Rounded Rectangle 15">
            <a:extLst>
              <a:ext uri="{FF2B5EF4-FFF2-40B4-BE49-F238E27FC236}">
                <a16:creationId xmlns:a16="http://schemas.microsoft.com/office/drawing/2014/main" id="{235A90C9-912F-60B5-E663-08B269C7579A}"/>
              </a:ext>
            </a:extLst>
          </p:cNvPr>
          <p:cNvSpPr/>
          <p:nvPr/>
        </p:nvSpPr>
        <p:spPr>
          <a:xfrm>
            <a:off x="2834640" y="3560064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6">
            <a:extLst>
              <a:ext uri="{FF2B5EF4-FFF2-40B4-BE49-F238E27FC236}">
                <a16:creationId xmlns:a16="http://schemas.microsoft.com/office/drawing/2014/main" id="{DA2FC2F9-7AD5-7204-0F9B-676B9FE9AC30}"/>
              </a:ext>
            </a:extLst>
          </p:cNvPr>
          <p:cNvSpPr/>
          <p:nvPr/>
        </p:nvSpPr>
        <p:spPr>
          <a:xfrm>
            <a:off x="2834640" y="3560064"/>
            <a:ext cx="2054352" cy="25603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A2CD83-083D-5202-D957-7444BAC8229F}"/>
              </a:ext>
            </a:extLst>
          </p:cNvPr>
          <p:cNvSpPr txBox="1"/>
          <p:nvPr/>
        </p:nvSpPr>
        <p:spPr>
          <a:xfrm>
            <a:off x="2944368" y="3578352"/>
            <a:ext cx="565989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071426"/>
                </a:solidFill>
                <a:latin typeface="Aptos"/>
              </a:rPr>
              <a:t>CV </a:t>
            </a:r>
            <a:r>
              <a:rPr lang="en-US" sz="900" b="1" dirty="0">
                <a:solidFill>
                  <a:srgbClr val="071426"/>
                </a:solidFill>
                <a:latin typeface="Aptos"/>
              </a:rPr>
              <a:t>90</a:t>
            </a:r>
            <a:r>
              <a:rPr sz="900" b="1" dirty="0">
                <a:solidFill>
                  <a:srgbClr val="071426"/>
                </a:solidFill>
                <a:latin typeface="Aptos"/>
              </a:rPr>
              <a:t>.</a:t>
            </a:r>
            <a:r>
              <a:rPr lang="en-US" sz="900" b="1" dirty="0">
                <a:solidFill>
                  <a:srgbClr val="071426"/>
                </a:solidFill>
                <a:latin typeface="Aptos"/>
              </a:rPr>
              <a:t>4</a:t>
            </a:r>
            <a:r>
              <a:rPr sz="900" b="1" dirty="0">
                <a:solidFill>
                  <a:srgbClr val="071426"/>
                </a:solidFill>
                <a:latin typeface="Aptos"/>
              </a:rPr>
              <a:t>%</a:t>
            </a:r>
          </a:p>
        </p:txBody>
      </p:sp>
      <p:sp>
        <p:nvSpPr>
          <p:cNvPr id="56" name="Rounded Rectangle 18">
            <a:extLst>
              <a:ext uri="{FF2B5EF4-FFF2-40B4-BE49-F238E27FC236}">
                <a16:creationId xmlns:a16="http://schemas.microsoft.com/office/drawing/2014/main" id="{4DAFD352-6B3B-7066-9B5E-78BBFB19EB0C}"/>
              </a:ext>
            </a:extLst>
          </p:cNvPr>
          <p:cNvSpPr/>
          <p:nvPr/>
        </p:nvSpPr>
        <p:spPr>
          <a:xfrm>
            <a:off x="2834640" y="3934968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19">
            <a:extLst>
              <a:ext uri="{FF2B5EF4-FFF2-40B4-BE49-F238E27FC236}">
                <a16:creationId xmlns:a16="http://schemas.microsoft.com/office/drawing/2014/main" id="{8053A1D5-A959-C6B1-E7E3-6D377EBEA62C}"/>
              </a:ext>
            </a:extLst>
          </p:cNvPr>
          <p:cNvSpPr/>
          <p:nvPr/>
        </p:nvSpPr>
        <p:spPr>
          <a:xfrm>
            <a:off x="2834641" y="3925822"/>
            <a:ext cx="1161288" cy="265178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6E6E3C-4D19-A63B-E835-C9D38C2AA120}"/>
              </a:ext>
            </a:extLst>
          </p:cNvPr>
          <p:cNvSpPr txBox="1"/>
          <p:nvPr/>
        </p:nvSpPr>
        <p:spPr>
          <a:xfrm>
            <a:off x="2944368" y="3953256"/>
            <a:ext cx="636521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071426"/>
                </a:solidFill>
                <a:latin typeface="Aptos"/>
              </a:rPr>
              <a:t>Test </a:t>
            </a:r>
            <a:r>
              <a:rPr lang="en-US" sz="900" b="1" dirty="0">
                <a:solidFill>
                  <a:srgbClr val="071426"/>
                </a:solidFill>
                <a:latin typeface="Aptos"/>
              </a:rPr>
              <a:t>66</a:t>
            </a:r>
            <a:r>
              <a:rPr sz="900" b="1" dirty="0">
                <a:solidFill>
                  <a:srgbClr val="071426"/>
                </a:solidFill>
                <a:latin typeface="Aptos"/>
              </a:rPr>
              <a:t>.</a:t>
            </a:r>
            <a:r>
              <a:rPr lang="en-US" sz="900" b="1" dirty="0">
                <a:solidFill>
                  <a:srgbClr val="071426"/>
                </a:solidFill>
                <a:latin typeface="Aptos"/>
              </a:rPr>
              <a:t>7</a:t>
            </a:r>
            <a:r>
              <a:rPr sz="900" b="1" dirty="0">
                <a:solidFill>
                  <a:srgbClr val="071426"/>
                </a:solidFill>
                <a:latin typeface="Aptos"/>
              </a:rPr>
              <a:t>%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656F1C-AC30-6CC1-0EA9-82C53AAF7CAF}"/>
              </a:ext>
            </a:extLst>
          </p:cNvPr>
          <p:cNvSpPr txBox="1"/>
          <p:nvPr/>
        </p:nvSpPr>
        <p:spPr>
          <a:xfrm>
            <a:off x="932688" y="4352544"/>
            <a:ext cx="391261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s-MX" sz="1200" b="1" dirty="0">
                <a:solidFill>
                  <a:srgbClr val="F8FAFC"/>
                </a:solidFill>
                <a:latin typeface="Aptos"/>
              </a:rPr>
              <a:t>KNN</a:t>
            </a:r>
            <a:endParaRPr sz="12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4" name="Rounded Rectangle 15">
            <a:extLst>
              <a:ext uri="{FF2B5EF4-FFF2-40B4-BE49-F238E27FC236}">
                <a16:creationId xmlns:a16="http://schemas.microsoft.com/office/drawing/2014/main" id="{37621919-66AC-07AD-9B45-AC61F5E76192}"/>
              </a:ext>
            </a:extLst>
          </p:cNvPr>
          <p:cNvSpPr/>
          <p:nvPr/>
        </p:nvSpPr>
        <p:spPr>
          <a:xfrm>
            <a:off x="2814421" y="4370832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16">
            <a:extLst>
              <a:ext uri="{FF2B5EF4-FFF2-40B4-BE49-F238E27FC236}">
                <a16:creationId xmlns:a16="http://schemas.microsoft.com/office/drawing/2014/main" id="{6BE427E8-C49E-AADC-91A4-93CB1852636A}"/>
              </a:ext>
            </a:extLst>
          </p:cNvPr>
          <p:cNvSpPr/>
          <p:nvPr/>
        </p:nvSpPr>
        <p:spPr>
          <a:xfrm>
            <a:off x="2834640" y="4370832"/>
            <a:ext cx="1899757" cy="25603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271A98-288E-5906-DE06-2DB6EE27ED87}"/>
              </a:ext>
            </a:extLst>
          </p:cNvPr>
          <p:cNvSpPr txBox="1"/>
          <p:nvPr/>
        </p:nvSpPr>
        <p:spPr>
          <a:xfrm>
            <a:off x="2944368" y="4389120"/>
            <a:ext cx="565989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071426"/>
                </a:solidFill>
                <a:latin typeface="Aptos"/>
              </a:rPr>
              <a:t>CV </a:t>
            </a:r>
            <a:r>
              <a:rPr lang="en-US" sz="900" b="1" dirty="0">
                <a:solidFill>
                  <a:srgbClr val="071426"/>
                </a:solidFill>
                <a:latin typeface="Aptos"/>
              </a:rPr>
              <a:t>84</a:t>
            </a:r>
            <a:r>
              <a:rPr sz="900" b="1" dirty="0">
                <a:solidFill>
                  <a:srgbClr val="071426"/>
                </a:solidFill>
                <a:latin typeface="Aptos"/>
              </a:rPr>
              <a:t>.</a:t>
            </a:r>
            <a:r>
              <a:rPr lang="en-US" sz="900" b="1" dirty="0">
                <a:solidFill>
                  <a:srgbClr val="071426"/>
                </a:solidFill>
                <a:latin typeface="Aptos"/>
              </a:rPr>
              <a:t>8</a:t>
            </a:r>
            <a:r>
              <a:rPr sz="900" b="1" dirty="0">
                <a:solidFill>
                  <a:srgbClr val="071426"/>
                </a:solidFill>
                <a:latin typeface="Aptos"/>
              </a:rPr>
              <a:t>%</a:t>
            </a:r>
          </a:p>
        </p:txBody>
      </p:sp>
      <p:sp>
        <p:nvSpPr>
          <p:cNvPr id="70" name="Rounded Rectangle 18">
            <a:extLst>
              <a:ext uri="{FF2B5EF4-FFF2-40B4-BE49-F238E27FC236}">
                <a16:creationId xmlns:a16="http://schemas.microsoft.com/office/drawing/2014/main" id="{B7673A23-65AA-A29D-FE98-594C2E0F2D19}"/>
              </a:ext>
            </a:extLst>
          </p:cNvPr>
          <p:cNvSpPr/>
          <p:nvPr/>
        </p:nvSpPr>
        <p:spPr>
          <a:xfrm>
            <a:off x="2834640" y="4745736"/>
            <a:ext cx="2240280" cy="25603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19">
            <a:extLst>
              <a:ext uri="{FF2B5EF4-FFF2-40B4-BE49-F238E27FC236}">
                <a16:creationId xmlns:a16="http://schemas.microsoft.com/office/drawing/2014/main" id="{A99727CE-16C8-4D59-F85D-4DD044917F3B}"/>
              </a:ext>
            </a:extLst>
          </p:cNvPr>
          <p:cNvSpPr/>
          <p:nvPr/>
        </p:nvSpPr>
        <p:spPr>
          <a:xfrm>
            <a:off x="2834640" y="4745736"/>
            <a:ext cx="1866153" cy="25603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D7249D-B0BF-2B51-66CF-E00D72AA7630}"/>
              </a:ext>
            </a:extLst>
          </p:cNvPr>
          <p:cNvSpPr txBox="1"/>
          <p:nvPr/>
        </p:nvSpPr>
        <p:spPr>
          <a:xfrm>
            <a:off x="2944368" y="4764024"/>
            <a:ext cx="105156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71426"/>
                </a:solidFill>
                <a:latin typeface="Aptos"/>
              </a:rPr>
              <a:t>Test 83.3%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130D755-05E9-777D-2F8B-FD0955959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542" y="1847678"/>
            <a:ext cx="4642627" cy="3985651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F1454E40-765C-F604-17C6-9716A270B9A0}"/>
              </a:ext>
            </a:extLst>
          </p:cNvPr>
          <p:cNvSpPr txBox="1"/>
          <p:nvPr/>
        </p:nvSpPr>
        <p:spPr>
          <a:xfrm>
            <a:off x="6390542" y="1406399"/>
            <a:ext cx="3142399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fr-FR" sz="1400" b="1" dirty="0">
                <a:solidFill>
                  <a:srgbClr val="22D3EE"/>
                </a:solidFill>
                <a:latin typeface="Aptos"/>
              </a:rPr>
              <a:t>Confusion</a:t>
            </a:r>
            <a:r>
              <a:rPr lang="fr-FR" sz="1500" b="1" dirty="0">
                <a:solidFill>
                  <a:srgbClr val="22D3EE"/>
                </a:solidFill>
                <a:latin typeface="Aptos"/>
              </a:rPr>
              <a:t> matrix — LR / SVM / KNN</a:t>
            </a:r>
            <a:endParaRPr sz="1500" b="1" dirty="0">
              <a:solidFill>
                <a:srgbClr val="22D3E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365760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ptos"/>
              </a:rPr>
              <a:t>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8912" y="758952"/>
            <a:ext cx="5212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347472"/>
            <a:ext cx="384048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2D4"/>
                </a:solidFill>
                <a:latin typeface="Aptos"/>
              </a:rPr>
              <a:t>DECISION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66928"/>
            <a:ext cx="1060704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Aptos"/>
              </a:rPr>
              <a:t>Conclusions and innovative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193792" cy="455371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32004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Aptos"/>
              </a:rPr>
              <a:t>What the evidence supports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286000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" y="2212848"/>
            <a:ext cx="437997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Launch outcomes improve across the flight sequence</a:t>
            </a:r>
            <a:endParaRPr sz="14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32688" y="2852928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2779776"/>
            <a:ext cx="4035977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Decision Tree achieved the highest cross-validation</a:t>
            </a:r>
          </a:p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score at 90.4%</a:t>
            </a:r>
            <a:endParaRPr sz="14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2688" y="3419856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" y="3346704"/>
            <a:ext cx="4315968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Logistic Regression, SVM, and KNN tied for the best holdout accuracy at 83.3%</a:t>
            </a:r>
            <a:endParaRPr sz="14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32688" y="3986783"/>
            <a:ext cx="100584" cy="100584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3913631"/>
            <a:ext cx="396698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LR, SVM, and KNN each produced 3 false positives</a:t>
            </a:r>
          </a:p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and 0 false negatives</a:t>
            </a:r>
            <a:endParaRPr sz="14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08192" y="1325880"/>
            <a:ext cx="5413248" cy="4553712"/>
          </a:xfrm>
          <a:prstGeom prst="roundRect">
            <a:avLst/>
          </a:prstGeom>
          <a:solidFill>
            <a:srgbClr val="0C2038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645920"/>
            <a:ext cx="32004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Aptos"/>
              </a:rPr>
              <a:t>Beyond the template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2198688"/>
            <a:ext cx="438912" cy="329184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264760"/>
            <a:ext cx="310896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071426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121408"/>
            <a:ext cx="358444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Aptos"/>
              </a:rPr>
              <a:t>COST-AWARE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312943"/>
            <a:ext cx="393192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F8FAFC"/>
                </a:solidFill>
                <a:latin typeface="Aptos"/>
              </a:rPr>
              <a:t>Penalize false positives more heavily than false negatives.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3250248"/>
            <a:ext cx="438912" cy="32918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316320"/>
            <a:ext cx="310896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071426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3172968"/>
            <a:ext cx="358444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BBF24"/>
                </a:solidFill>
                <a:latin typeface="Aptos"/>
              </a:rPr>
              <a:t>CALIBRATED PROBABILITY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3364503"/>
            <a:ext cx="3895344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F8FAFC"/>
                </a:solidFill>
                <a:latin typeface="Aptos"/>
              </a:rPr>
              <a:t>Report landing probability—not only a binary class.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4301808"/>
            <a:ext cx="438912" cy="329184"/>
          </a:xfrm>
          <a:prstGeom prst="roundRect">
            <a:avLst/>
          </a:prstGeom>
          <a:solidFill>
            <a:srgbClr val="20C997"/>
          </a:solidFill>
          <a:ln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367880"/>
            <a:ext cx="310896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71426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4224528"/>
            <a:ext cx="358444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C997"/>
                </a:solidFill>
                <a:latin typeface="Aptos"/>
              </a:rPr>
              <a:t>DRIFT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4416064"/>
            <a:ext cx="393192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F8FAFC"/>
                </a:solidFill>
                <a:latin typeface="Aptos"/>
              </a:rPr>
              <a:t>Retrain as new booster versions and mission profiles appear.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5248656"/>
            <a:ext cx="4663440" cy="347472"/>
          </a:xfrm>
          <a:prstGeom prst="roundRect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6069" y="5312664"/>
            <a:ext cx="4376326" cy="2200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50" b="1" dirty="0">
                <a:solidFill>
                  <a:srgbClr val="F8FAFC"/>
                </a:solidFill>
                <a:latin typeface="Aptos"/>
              </a:rPr>
              <a:t>Recommendation: use as decision support, not an autonomous go/no-go rule.</a:t>
            </a:r>
            <a:endParaRPr sz="950" b="1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438912" y="6492240"/>
            <a:ext cx="11311128" cy="0"/>
          </a:xfrm>
          <a:prstGeom prst="line">
            <a:avLst/>
          </a:prstGeom>
          <a:ln w="12700">
            <a:solidFill>
              <a:srgbClr val="1D3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488" y="6519672"/>
            <a:ext cx="36576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FC2D4"/>
                </a:solidFill>
                <a:latin typeface="Aptos"/>
              </a:rPr>
              <a:t>Conclusions and innovative insights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66B62-1916-111B-274E-BDDAD635DFA5}"/>
              </a:ext>
            </a:extLst>
          </p:cNvPr>
          <p:cNvSpPr txBox="1"/>
          <p:nvPr/>
        </p:nvSpPr>
        <p:spPr>
          <a:xfrm>
            <a:off x="7589518" y="6527780"/>
            <a:ext cx="41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850" b="1" dirty="0">
                <a:solidFill>
                  <a:srgbClr val="22D3EE"/>
                </a:solidFill>
                <a:latin typeface="Aptos"/>
              </a:rPr>
              <a:t>GitHub  •  https://github.com/ijontichyai/IBM-Data-Science-Capstone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1466</Words>
  <Application>Microsoft Office PowerPoint</Application>
  <PresentationFormat>Widescreen</PresentationFormat>
  <Paragraphs>339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DITEC AUTO</dc:creator>
  <cp:keywords/>
  <dc:description/>
  <cp:lastModifiedBy>Armando Romero Mariscal R.</cp:lastModifiedBy>
  <cp:revision>26</cp:revision>
  <dcterms:created xsi:type="dcterms:W3CDTF">2026-08-19T11:13:21Z</dcterms:created>
  <dcterms:modified xsi:type="dcterms:W3CDTF">2026-08-21T17:05:15Z</dcterms:modified>
  <cp:category/>
</cp:coreProperties>
</file>