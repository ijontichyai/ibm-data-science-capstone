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4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87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37082-B1CF-4D3D-8A96-BD30A394054C}" type="datetimeFigureOut">
              <a:rPr lang="es-MX" smtClean="0"/>
              <a:t>20/08/2026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A7CEB8-63AB-4952-A83B-A2483E71BB97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0368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A7CEB8-63AB-4952-A83B-A2483E71BB97}" type="slidenum">
              <a:rPr lang="es-MX" smtClean="0"/>
              <a:t>20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40855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2103510" cy="6858000"/>
          </a:xfrm>
          <a:prstGeom prst="rect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138159" y="0"/>
            <a:ext cx="4005838" cy="6858000"/>
          </a:xfrm>
          <a:prstGeom prst="rect">
            <a:avLst/>
          </a:prstGeom>
          <a:solidFill>
            <a:srgbClr val="0C2038"/>
          </a:solidFill>
          <a:ln>
            <a:solidFill>
              <a:srgbClr val="0C2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914400"/>
            <a:ext cx="164592" cy="16459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1508760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0" y="2194560"/>
            <a:ext cx="118872" cy="1188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064240" y="4389120"/>
            <a:ext cx="137160" cy="13716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5577840"/>
            <a:ext cx="82296" cy="82296"/>
          </a:xfrm>
          <a:prstGeom prst="ellipse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32520" y="1874519"/>
            <a:ext cx="1965960" cy="196596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62288" y="2304288"/>
            <a:ext cx="1106424" cy="1106424"/>
          </a:xfrm>
          <a:prstGeom prst="ellipse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25712" y="2798064"/>
            <a:ext cx="1170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45752" y="3182112"/>
            <a:ext cx="548640" cy="219456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8705088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69296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48640"/>
            <a:ext cx="219456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SPACE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16152"/>
            <a:ext cx="7040880" cy="1417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Predicting Falcon 9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First-Stage Landings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71216"/>
            <a:ext cx="6492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FC2D4"/>
                </a:solidFill>
                <a:latin typeface="Aptos"/>
              </a:rPr>
              <a:t>Applied Data Science Capstone  •  Technical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886200"/>
            <a:ext cx="6812280" cy="10241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4160520"/>
            <a:ext cx="6318461" cy="62786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A reproducible pipeline from API and web data to interactive</a:t>
            </a:r>
            <a:endParaRPr lang="en-US" sz="18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 analytics and classification.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70448"/>
            <a:ext cx="2608150" cy="273921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300" b="1" dirty="0">
                <a:solidFill>
                  <a:srgbClr val="F8FAFC"/>
                </a:solidFill>
                <a:latin typeface="Aptos"/>
              </a:rPr>
              <a:t>Armando Romero Mariscal Guasp</a:t>
            </a:r>
            <a:endParaRPr sz="13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6199632"/>
            <a:ext cx="292608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2D4"/>
                </a:solidFill>
                <a:latin typeface="Aptos"/>
              </a:rPr>
              <a:t>18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8594" y="5870448"/>
            <a:ext cx="3906646" cy="24314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s-MX" sz="1100" b="1" dirty="0">
                <a:solidFill>
                  <a:srgbClr val="22D3EE"/>
                </a:solidFill>
                <a:latin typeface="Aptos"/>
              </a:rPr>
              <a:t>https://github.com/ijontichyai/IBM-Data-Science-Capstone</a:t>
            </a:r>
            <a:endParaRPr sz="1100" b="1" dirty="0">
              <a:solidFill>
                <a:srgbClr val="22D3E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77FA49-D3A3-600E-E805-28118EDBA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A1C018-8181-4606-763A-CC8D420C8EC3}"/>
              </a:ext>
            </a:extLst>
          </p:cNvPr>
          <p:cNvSpPr/>
          <p:nvPr/>
        </p:nvSpPr>
        <p:spPr>
          <a:xfrm>
            <a:off x="1" y="0"/>
            <a:ext cx="12103510" cy="6858000"/>
          </a:xfrm>
          <a:prstGeom prst="rect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8A96BE-E4E4-332F-009D-614DCFD5F49A}"/>
              </a:ext>
            </a:extLst>
          </p:cNvPr>
          <p:cNvSpPr txBox="1"/>
          <p:nvPr/>
        </p:nvSpPr>
        <p:spPr>
          <a:xfrm>
            <a:off x="658368" y="548640"/>
            <a:ext cx="219456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SPACE 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9E4ECB-2953-E1F4-EF39-27F1DAC047ED}"/>
              </a:ext>
            </a:extLst>
          </p:cNvPr>
          <p:cNvSpPr txBox="1"/>
          <p:nvPr/>
        </p:nvSpPr>
        <p:spPr>
          <a:xfrm>
            <a:off x="658368" y="822960"/>
            <a:ext cx="6197338" cy="491365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SUBMISSION EVIDENCE</a:t>
            </a: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Submission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verification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PUBLIC GITHUB REPOSITORY</a:t>
            </a: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https://github.com/ijontichyai/IBM-Data-Science-Capstone</a:t>
            </a: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The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repository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is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public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and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contains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the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completed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notebooks, Python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application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,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datasets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,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presentation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, and final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report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.</a:t>
            </a: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COMPLETED PROJECT FILES</a:t>
            </a: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SpaceX REST API data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collection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</a:t>
            </a: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Web-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scraping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data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collection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</a:t>
            </a: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Data-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wrangling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</a:t>
            </a: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EDA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visualization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</a:t>
            </a: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EDA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with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SQL notebook and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queries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Folium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launch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-site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analysis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</a:t>
            </a: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Plotly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Dash Python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application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Machine-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learning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classification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notebook</a:t>
            </a: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FINAL PRESENTATION CONTENT</a:t>
            </a: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Executive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Summary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Introduction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Data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Collection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and Data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Wrangling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Methodology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EDA and Data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Visualization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Methodology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Predictive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Analysis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/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Classification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EDA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with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Visualization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EDA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with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SQL</a:t>
            </a: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Folium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Map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Analysis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Plotly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Dash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Analysis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Predictive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Analysis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Results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Conclusions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 err="1">
                <a:solidFill>
                  <a:srgbClr val="F8FAFC"/>
                </a:solidFill>
                <a:latin typeface="Aptos"/>
              </a:rPr>
              <a:t>Creativity</a:t>
            </a:r>
            <a:r>
              <a:rPr lang="es-MX" sz="850" b="1" dirty="0">
                <a:solidFill>
                  <a:srgbClr val="F8FAFC"/>
                </a:solidFill>
                <a:latin typeface="Aptos"/>
              </a:rPr>
              <a:t> and Innovative </a:t>
            </a:r>
            <a:r>
              <a:rPr lang="es-MX" sz="850" b="1" dirty="0" err="1">
                <a:solidFill>
                  <a:srgbClr val="F8FAFC"/>
                </a:solidFill>
                <a:latin typeface="Aptos"/>
              </a:rPr>
              <a:t>Insights</a:t>
            </a:r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endParaRPr lang="es-MX" sz="850" b="1" dirty="0">
              <a:solidFill>
                <a:srgbClr val="F8FAFC"/>
              </a:solidFill>
              <a:latin typeface="Aptos"/>
            </a:endParaRP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SUBMISSION FORMAT</a:t>
            </a:r>
          </a:p>
          <a:p>
            <a:r>
              <a:rPr lang="es-MX" sz="850" b="1" dirty="0">
                <a:solidFill>
                  <a:srgbClr val="F8FAFC"/>
                </a:solidFill>
                <a:latin typeface="Aptos"/>
              </a:rPr>
              <a:t>PDF • COMPLETE • PUBLIC REPOSITORY</a:t>
            </a:r>
            <a:endParaRPr sz="85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B995CE-CAB7-87D8-7441-C16865AFF97B}"/>
              </a:ext>
            </a:extLst>
          </p:cNvPr>
          <p:cNvSpPr txBox="1"/>
          <p:nvPr/>
        </p:nvSpPr>
        <p:spPr>
          <a:xfrm>
            <a:off x="658368" y="5870448"/>
            <a:ext cx="2608150" cy="273921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300" b="1" dirty="0">
                <a:solidFill>
                  <a:srgbClr val="F8FAFC"/>
                </a:solidFill>
                <a:latin typeface="Aptos"/>
              </a:rPr>
              <a:t>Armando Romero Mariscal Guasp</a:t>
            </a:r>
            <a:endParaRPr sz="13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1D6B9A-C3C6-84EA-C448-271880F8C4FC}"/>
              </a:ext>
            </a:extLst>
          </p:cNvPr>
          <p:cNvSpPr txBox="1"/>
          <p:nvPr/>
        </p:nvSpPr>
        <p:spPr>
          <a:xfrm>
            <a:off x="658368" y="6199632"/>
            <a:ext cx="292608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2D4"/>
                </a:solidFill>
                <a:latin typeface="Aptos"/>
              </a:rPr>
              <a:t>18 August 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DE8378-42DE-B4E4-0DBA-365FB25826C5}"/>
              </a:ext>
            </a:extLst>
          </p:cNvPr>
          <p:cNvSpPr txBox="1"/>
          <p:nvPr/>
        </p:nvSpPr>
        <p:spPr>
          <a:xfrm>
            <a:off x="3728594" y="5870448"/>
            <a:ext cx="3906646" cy="24314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s-MX" sz="1100" b="1" dirty="0">
                <a:solidFill>
                  <a:srgbClr val="22D3EE"/>
                </a:solidFill>
                <a:latin typeface="Aptos"/>
              </a:rPr>
              <a:t>https://github.com/ijontichyai/IBM-Data-Science-Capstone</a:t>
            </a:r>
            <a:endParaRPr sz="1100" b="1" dirty="0">
              <a:solidFill>
                <a:srgbClr val="22D3EE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26386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E432AD-FF83-536F-C143-B60381EB7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F462DD-6309-EF9B-AFF8-894241BE5004}"/>
              </a:ext>
            </a:extLst>
          </p:cNvPr>
          <p:cNvSpPr/>
          <p:nvPr/>
        </p:nvSpPr>
        <p:spPr>
          <a:xfrm>
            <a:off x="1" y="0"/>
            <a:ext cx="12103510" cy="6858000"/>
          </a:xfrm>
          <a:prstGeom prst="rect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A7D6EF-CDA0-1C27-B026-488685097CE6}"/>
              </a:ext>
            </a:extLst>
          </p:cNvPr>
          <p:cNvSpPr txBox="1"/>
          <p:nvPr/>
        </p:nvSpPr>
        <p:spPr>
          <a:xfrm>
            <a:off x="658368" y="548640"/>
            <a:ext cx="219456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SPACE 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B14E2A-8403-CD15-D27D-D7B2CCEDAE38}"/>
              </a:ext>
            </a:extLst>
          </p:cNvPr>
          <p:cNvSpPr txBox="1"/>
          <p:nvPr/>
        </p:nvSpPr>
        <p:spPr>
          <a:xfrm>
            <a:off x="658368" y="822960"/>
            <a:ext cx="6080319" cy="4436599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SUBMISSION EVIDENCE</a:t>
            </a:r>
          </a:p>
          <a:p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Rubric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evidence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index</a:t>
            </a:r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Every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required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grading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section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complete and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mapped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below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to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its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location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in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this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PDF.</a:t>
            </a:r>
          </a:p>
          <a:p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Rubric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item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Evidence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location</a:t>
            </a:r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 GitHub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repository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+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completed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notebooks/Python files	Page 2 +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public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repository</a:t>
            </a:r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Q2 Final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presentation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submitted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as PDF	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This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PDF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document</a:t>
            </a:r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Q3 Executive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Summary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4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Q4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Introduction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5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Q5 Data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Collection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+ Data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Wrangling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Methodology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Pages 6–9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Q6 EDA + Data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Visualization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Methodology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10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Q7 Predictive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Analysis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/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Classification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Methodology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18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Q8 EDA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with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Visualization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11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Q9 EDA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with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SQL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slides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/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queries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/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results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Pages 12–13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Q10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Folium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Map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methodology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+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results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Pages 14–15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Q11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Plotly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Dash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methodology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+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results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Pages 16–17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Q12 Predictive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Analysis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Results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19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Q13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Conclusion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20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Q14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Creativity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Throughout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the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presentation</a:t>
            </a:r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Q15 Innovative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Insights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	Page 20</a:t>
            </a:r>
          </a:p>
          <a:p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PUBLIC REPOSITORY</a:t>
            </a:r>
          </a:p>
          <a:p>
            <a:r>
              <a:rPr lang="es-MX" sz="1050" b="1" dirty="0">
                <a:solidFill>
                  <a:srgbClr val="F8FAFC"/>
                </a:solidFill>
                <a:latin typeface="Aptos"/>
              </a:rPr>
              <a:t>https://github.com/ijontichyai/IBM-Data-Science-Capstone</a:t>
            </a:r>
          </a:p>
          <a:p>
            <a:endParaRPr lang="es-MX" sz="1050" b="1" dirty="0">
              <a:solidFill>
                <a:srgbClr val="F8FAFC"/>
              </a:solidFill>
              <a:latin typeface="Aptos"/>
            </a:endParaRPr>
          </a:p>
          <a:p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All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evidence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referenced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above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included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in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this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presentation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and/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or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the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public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 GitHub </a:t>
            </a:r>
            <a:r>
              <a:rPr lang="es-MX" sz="1050" b="1" dirty="0" err="1">
                <a:solidFill>
                  <a:srgbClr val="F8FAFC"/>
                </a:solidFill>
                <a:latin typeface="Aptos"/>
              </a:rPr>
              <a:t>repository</a:t>
            </a:r>
            <a:r>
              <a:rPr lang="es-MX" sz="1050" b="1" dirty="0">
                <a:solidFill>
                  <a:srgbClr val="F8FAFC"/>
                </a:solidFill>
                <a:latin typeface="Aptos"/>
              </a:rPr>
              <a:t>.</a:t>
            </a:r>
            <a:endParaRPr sz="105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EA7D80-42C6-308D-82D3-42DD4481AAC0}"/>
              </a:ext>
            </a:extLst>
          </p:cNvPr>
          <p:cNvSpPr txBox="1"/>
          <p:nvPr/>
        </p:nvSpPr>
        <p:spPr>
          <a:xfrm>
            <a:off x="658368" y="5870448"/>
            <a:ext cx="2608150" cy="273921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300" b="1" dirty="0">
                <a:solidFill>
                  <a:srgbClr val="F8FAFC"/>
                </a:solidFill>
                <a:latin typeface="Aptos"/>
              </a:rPr>
              <a:t>Armando Romero Mariscal Guasp</a:t>
            </a:r>
            <a:endParaRPr sz="13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998127-9247-8A8F-5E1D-4990419A59F1}"/>
              </a:ext>
            </a:extLst>
          </p:cNvPr>
          <p:cNvSpPr txBox="1"/>
          <p:nvPr/>
        </p:nvSpPr>
        <p:spPr>
          <a:xfrm>
            <a:off x="658368" y="6199632"/>
            <a:ext cx="292608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2D4"/>
                </a:solidFill>
                <a:latin typeface="Aptos"/>
              </a:rPr>
              <a:t>18 August 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51397F-B3A8-4A54-B153-9BA97F6A05E8}"/>
              </a:ext>
            </a:extLst>
          </p:cNvPr>
          <p:cNvSpPr txBox="1"/>
          <p:nvPr/>
        </p:nvSpPr>
        <p:spPr>
          <a:xfrm>
            <a:off x="3728594" y="5870448"/>
            <a:ext cx="3906646" cy="24314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s-MX" sz="1100" b="1" dirty="0">
                <a:solidFill>
                  <a:srgbClr val="22D3EE"/>
                </a:solidFill>
                <a:latin typeface="Aptos"/>
              </a:rPr>
              <a:t>https://github.com/ijontichyai/IBM-Data-Science-Capstone</a:t>
            </a:r>
            <a:endParaRPr sz="1100" b="1" dirty="0">
              <a:solidFill>
                <a:srgbClr val="22D3EE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04126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789920" cy="3840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Aptos"/>
              </a:rPr>
              <a:t>Can launch history reveal when a Falcon 9 first stage is likely to land?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Aptos"/>
              </a:rPr>
              <a:t>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launch records analyzed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3824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73552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76.9%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79008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84.8%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best cross-validation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3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83.3%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verified holdout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46120"/>
            <a:ext cx="521208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3511296"/>
            <a:ext cx="18288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we did</a:t>
            </a:r>
          </a:p>
        </p:txBody>
      </p:sp>
      <p:sp>
        <p:nvSpPr>
          <p:cNvPr id="21" name="Oval 20"/>
          <p:cNvSpPr/>
          <p:nvPr/>
        </p:nvSpPr>
        <p:spPr>
          <a:xfrm>
            <a:off x="896112" y="40233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39502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Collected launch data via API and web scraping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4805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44074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Cleaned, encoded, queried, mapped, and visualized the data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" y="49377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48646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Tuned Logistic Regression, SVM, Decision Tree, and KNN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246120"/>
            <a:ext cx="562356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3511296"/>
            <a:ext cx="219456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What we learned</a:t>
            </a:r>
          </a:p>
        </p:txBody>
      </p:sp>
      <p:sp>
        <p:nvSpPr>
          <p:cNvPr id="29" name="Oval 28"/>
          <p:cNvSpPr/>
          <p:nvPr/>
        </p:nvSpPr>
        <p:spPr>
          <a:xfrm>
            <a:off x="6364224" y="40233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65392" y="39502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Launch site, payload, orbit, and booster context matter</a:t>
            </a:r>
          </a:p>
        </p:txBody>
      </p:sp>
      <p:sp>
        <p:nvSpPr>
          <p:cNvPr id="31" name="Oval 30"/>
          <p:cNvSpPr/>
          <p:nvPr/>
        </p:nvSpPr>
        <p:spPr>
          <a:xfrm>
            <a:off x="6364224" y="44805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44074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SVM led validation; SVM and Logistic Regression tied on test data</a:t>
            </a:r>
          </a:p>
        </p:txBody>
      </p:sp>
      <p:sp>
        <p:nvSpPr>
          <p:cNvPr id="33" name="Oval 32"/>
          <p:cNvSpPr/>
          <p:nvPr/>
        </p:nvSpPr>
        <p:spPr>
          <a:xfrm>
            <a:off x="6364224" y="49377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65392" y="48646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False positives—not missed landings—were the main error mode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Executive summary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519672"/>
            <a:ext cx="429768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IBM Applied Data Science Capstone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Business context and analytical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3675887" cy="452628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3774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3209981" cy="1489639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First-stage reuse can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reduce launch cost and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improve mission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economics.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6492"/>
            <a:ext cx="3209981" cy="7663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A reliable landing prediction helps</a:t>
            </a:r>
            <a:endParaRPr lang="en-US" sz="1500" b="0" dirty="0">
              <a:solidFill>
                <a:srgbClr val="AFC2D4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planners estimate reuse potential before launch.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98448"/>
            <a:ext cx="6903720" cy="19019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1609344"/>
            <a:ext cx="201168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BF24"/>
                </a:solidFill>
                <a:latin typeface="Aptos"/>
              </a:rPr>
              <a:t>Research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39" y="2011680"/>
            <a:ext cx="6522887" cy="118186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F8FAFC"/>
                </a:solidFill>
                <a:latin typeface="Aptos"/>
              </a:rPr>
              <a:t>Given launch conditions and historical outcomes, will the first stage land successfully?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456432"/>
            <a:ext cx="6903720" cy="236829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01184" y="3785615"/>
            <a:ext cx="1143000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65192" y="3822191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8FAFC"/>
                </a:solidFill>
                <a:latin typeface="Aptos"/>
              </a:rPr>
              <a:t>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22191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Payload  •  Orbit  •  Site  •  Booster  •  Flight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416552"/>
            <a:ext cx="1143000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65192" y="4453128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453128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Class = 1 landed  |  Class = 0 did not 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01184" y="5047488"/>
            <a:ext cx="1143000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65192" y="5084064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084064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Transparent evidence for operational decision-making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C1F784-4B4F-98C4-35A4-E09B0699E385}"/>
              </a:ext>
            </a:extLst>
          </p:cNvPr>
          <p:cNvSpPr txBox="1"/>
          <p:nvPr/>
        </p:nvSpPr>
        <p:spPr>
          <a:xfrm>
            <a:off x="7589518" y="6538171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END-TO-END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From raw launch records to decision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40664" y="2157984"/>
            <a:ext cx="457200" cy="45720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COLLECT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API + Wikipedia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9464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44952" y="2157984"/>
            <a:ext cx="457200" cy="45720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44952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WRANGLE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Normalize + label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73752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84648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49240" y="2157984"/>
            <a:ext cx="457200" cy="45720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49240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Plots + SQL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78040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88936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53528" y="2157984"/>
            <a:ext cx="457200" cy="457200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53528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8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INTERACT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Folium + Dash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82328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793224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57816" y="2157984"/>
            <a:ext cx="457200" cy="457200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57816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7816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PREDICT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7816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GridSearchCV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26864"/>
            <a:ext cx="10863072" cy="9875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6112" y="4910328"/>
            <a:ext cx="1536192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Design principle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4846320"/>
            <a:ext cx="8808720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Every result is traceable to source data, transformations, and a reproducible notebook or Python file.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Methodology overview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2D0956-C860-9BE4-6694-AA91F1951A60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SpaceX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/v4/launches/past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52928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LOOK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rockets · payloads · launchpads · cores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64608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75504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12664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JSON → pandas </a:t>
            </a:r>
            <a:r>
              <a:rPr sz="1200" b="1" dirty="0" err="1">
                <a:solidFill>
                  <a:srgbClr val="F8FAFC"/>
                </a:solidFill>
                <a:latin typeface="Aptos"/>
              </a:rPr>
              <a:t>DataFrame</a:t>
            </a:r>
            <a:endParaRPr sz="1200" b="1" dirty="0">
              <a:solidFill>
                <a:srgbClr val="F8FAFC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7187184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98079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Falcon 9 launch records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59" y="2103120"/>
            <a:ext cx="256033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0656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57816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57816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structured CSV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136392"/>
            <a:ext cx="5230368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Core fields retained</a:t>
            </a:r>
          </a:p>
        </p:txBody>
      </p:sp>
      <p:sp>
        <p:nvSpPr>
          <p:cNvPr id="27" name="Oval 26"/>
          <p:cNvSpPr/>
          <p:nvPr/>
        </p:nvSpPr>
        <p:spPr>
          <a:xfrm>
            <a:off x="896112" y="3950208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877056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Flight number and date</a:t>
            </a:r>
          </a:p>
        </p:txBody>
      </p:sp>
      <p:sp>
        <p:nvSpPr>
          <p:cNvPr id="29" name="Oval 28"/>
          <p:cNvSpPr/>
          <p:nvPr/>
        </p:nvSpPr>
        <p:spPr>
          <a:xfrm>
            <a:off x="896112" y="434340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4270248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Booster / core configuration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" y="4736592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4663440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Payload mass and orbit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" y="5129784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5056632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Launch site and landing outcome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136392"/>
            <a:ext cx="5394960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64224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C997"/>
                </a:solidFill>
                <a:latin typeface="Aptos"/>
              </a:rPr>
              <a:t>Quality controls</a:t>
            </a:r>
          </a:p>
        </p:txBody>
      </p:sp>
      <p:sp>
        <p:nvSpPr>
          <p:cNvPr id="37" name="Oval 36"/>
          <p:cNvSpPr/>
          <p:nvPr/>
        </p:nvSpPr>
        <p:spPr>
          <a:xfrm>
            <a:off x="6364224" y="3950208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65392" y="3877056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Resolve related IDs before analysis</a:t>
            </a:r>
          </a:p>
        </p:txBody>
      </p:sp>
      <p:sp>
        <p:nvSpPr>
          <p:cNvPr id="39" name="Oval 38"/>
          <p:cNvSpPr/>
          <p:nvPr/>
        </p:nvSpPr>
        <p:spPr>
          <a:xfrm>
            <a:off x="6364224" y="4343400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65392" y="4270248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Remove empty or irrelevant records</a:t>
            </a:r>
          </a:p>
        </p:txBody>
      </p:sp>
      <p:sp>
        <p:nvSpPr>
          <p:cNvPr id="41" name="Oval 40"/>
          <p:cNvSpPr/>
          <p:nvPr/>
        </p:nvSpPr>
        <p:spPr>
          <a:xfrm>
            <a:off x="6364224" y="4736592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65392" y="4663440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Preserve a repeatable extraction path</a:t>
            </a:r>
          </a:p>
        </p:txBody>
      </p:sp>
      <p:sp>
        <p:nvSpPr>
          <p:cNvPr id="43" name="Oval 42"/>
          <p:cNvSpPr/>
          <p:nvPr/>
        </p:nvSpPr>
        <p:spPr>
          <a:xfrm>
            <a:off x="6364224" y="5129784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65392" y="5056632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Store the final analytical table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API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F9B85-ACDB-7768-2D33-6C1E846DD82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53312"/>
            <a:ext cx="6784848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664208"/>
            <a:ext cx="384048" cy="384048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82496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Request Wikipedia launch-history page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144" y="2048256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60120" y="2414016"/>
            <a:ext cx="384048" cy="384048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505456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2304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Parse HTML tables with BeautifulSoup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144" y="2798064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60120" y="3163824"/>
            <a:ext cx="384048" cy="384048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182112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Extract rows and normalize cell 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52144" y="3547872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60120" y="3913632"/>
            <a:ext cx="384048" cy="384048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005072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31920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Build a structured launch-record DataFrame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2144" y="4297680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60120" y="4663440"/>
            <a:ext cx="384048" cy="384048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754879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81727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Validate columns and export for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17536" y="1353312"/>
            <a:ext cx="3803904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91856" y="1719072"/>
            <a:ext cx="24688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Fields extracted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91856" y="222199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55864" y="225856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Flight No.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6" y="2697480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5864" y="2734056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 site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172968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55864" y="3209544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/ orbit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3648456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55864" y="3685032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4123944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55864" y="4160520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Mission outcome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459943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55864" y="463600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Booster landing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CF27-0D6A-32AF-CF28-52D3C63BD92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wrangling and feature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737360"/>
            <a:ext cx="438912" cy="43891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Apto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21408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Handle missing payloads, normalize text, remove duplicates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0" y="1737360"/>
            <a:ext cx="438912" cy="43891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79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2121408"/>
            <a:ext cx="3959352" cy="60350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Convert landing outcome to binary class 0 /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3840479"/>
            <a:ext cx="438912" cy="43891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ENCODE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7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One-hot encode orbit, site, landing pad, and serial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3840479"/>
            <a:ext cx="438912" cy="43891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79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6B6B"/>
                </a:solidFill>
                <a:latin typeface="Aptos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224527"/>
            <a:ext cx="4030244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Standardize numeric features before distance-based models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69280"/>
            <a:ext cx="10716768" cy="548640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24728"/>
            <a:ext cx="102870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Result: one analysis-ready feature matrix X and one target vector 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wrangling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72A1A-E3A8-B7AB-274A-75E8C651591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Exploratory analysis — questions before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Where do launches succeed most often?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3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3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How does mass relate to outcome?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1312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Aptos"/>
              </a:rPr>
              <a:t>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mission profiles are most successful?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0C997"/>
                </a:solidFill>
                <a:latin typeface="Aptos"/>
              </a:rPr>
              <a:t>BOOSTER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20624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configurations perform best?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5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3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B82F6"/>
                </a:solidFill>
                <a:latin typeface="Aptos"/>
              </a:rPr>
              <a:t>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4206240"/>
            <a:ext cx="304524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Does success improve as experience grows?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1312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4206240"/>
            <a:ext cx="2944368" cy="6583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Aptos"/>
              </a:rPr>
              <a:t>Where do failures cluster?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565140"/>
            <a:ext cx="10497312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AFC2D4"/>
                </a:solidFill>
                <a:latin typeface="Aptos"/>
              </a:rPr>
              <a:t>Bar charts compare site and booster performance; scatter plots examine payload vs. outcome; line charts show yearly success trends; SQL verifies exact aggregations.</a:t>
            </a:r>
            <a:endParaRPr sz="1600" b="1" dirty="0">
              <a:solidFill>
                <a:srgbClr val="AFC2D4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2884B-B122-524B-0AFA-0455EBD52A38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VISUALIZATION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results — site, payload, and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243584"/>
            <a:ext cx="5623560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te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369" y="1243584"/>
            <a:ext cx="5289525" cy="228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72784" y="1243584"/>
            <a:ext cx="5376672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5705" y="1243584"/>
            <a:ext cx="5270829" cy="228599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0752"/>
            <a:ext cx="5623560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ayload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61" y="3730752"/>
            <a:ext cx="5116741" cy="22677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72784" y="3730752"/>
            <a:ext cx="5376672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booster_suc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0541" y="3730752"/>
            <a:ext cx="4381157" cy="2267712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visualization results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B9B5E-D8DF-5575-36E7-E8E5B30C6CDC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with SQL — reproducible analytical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63040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1609344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20240" y="1371600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SITE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8496" y="1371600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DISTINCT launch sites and CCA-prefixed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59152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88720" y="2505456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20240" y="2267712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8496" y="2267712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SUM and AVG payload mass by customer / booster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55264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401568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20240" y="3163824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163824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COUNT outcomes and drone-ship landings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51375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4297679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920240" y="4059935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8496" y="4059935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GROUP BY booster and ORDER BY success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47488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5193792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920240" y="4956048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8496" y="4956048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Filter launch dates and compare historical periods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916168"/>
            <a:ext cx="10753344" cy="39319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998464"/>
            <a:ext cx="1037844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Pattern: SELECT → WHERE → GROUP BY → aggregate → ORDER BY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04D66F-38B7-33F0-FD8A-8D71E99390C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SQL results — exact summaries support the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07592"/>
            <a:ext cx="10863072" cy="53035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472184"/>
            <a:ext cx="210312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4096" y="1472184"/>
            <a:ext cx="5870448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6105" y="1472184"/>
            <a:ext cx="314317" cy="227755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dirty="0">
                <a:solidFill>
                  <a:srgbClr val="071426"/>
                </a:solidFill>
                <a:latin typeface="Aptos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920240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20848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Launch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2048256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Four sites represented in the analytical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066544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08008" y="2103120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688336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2852928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Payloads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2816352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Observed payload range extends to about 9,600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834640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2871216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Distribution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456432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Success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3584448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LC-39A: 76.9%  •  CCAFS LC-40: 73.1%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3602736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08008" y="3639312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24528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389120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4352544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 contributes the largest share of successes: 41.7%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370832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08008" y="4407408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Ranking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992624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" y="5157216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Time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54096" y="5120640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Later launch sequences show stronger and more stable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5138928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08008" y="5175504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Trend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 results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A2F016-BC15-6CB1-B8C8-52B6D79DE3C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Interactive geospatial analytics with Folium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35024"/>
            <a:ext cx="6876288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655064"/>
            <a:ext cx="16459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MAP LAYERS</a:t>
            </a:r>
          </a:p>
        </p:txBody>
      </p:sp>
      <p:sp>
        <p:nvSpPr>
          <p:cNvPr id="8" name="Oval 7"/>
          <p:cNvSpPr/>
          <p:nvPr/>
        </p:nvSpPr>
        <p:spPr>
          <a:xfrm>
            <a:off x="950976" y="2084831"/>
            <a:ext cx="347472" cy="34747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67127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66543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066543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Circle markers + labels</a:t>
            </a:r>
          </a:p>
        </p:txBody>
      </p:sp>
      <p:sp>
        <p:nvSpPr>
          <p:cNvPr id="12" name="Oval 11"/>
          <p:cNvSpPr/>
          <p:nvPr/>
        </p:nvSpPr>
        <p:spPr>
          <a:xfrm>
            <a:off x="950976" y="2889503"/>
            <a:ext cx="347472" cy="347472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2971799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71215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871215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Green success / red failure markers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694176"/>
            <a:ext cx="347472" cy="34747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3776472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75888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Clusters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3675888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MarkerCluster for overlapping launches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498848"/>
            <a:ext cx="347472" cy="3474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4581144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Proximity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4480560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MousePosition + distance lines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90688" y="1335024"/>
            <a:ext cx="3730752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83296" y="1655064"/>
            <a:ext cx="24688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PROXIMITY TESTS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0" y="2322576"/>
            <a:ext cx="502920" cy="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79408" y="2212848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Coastline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0" y="2980944"/>
            <a:ext cx="502920" cy="0"/>
          </a:xfrm>
          <a:prstGeom prst="line">
            <a:avLst/>
          </a:prstGeom>
          <a:ln w="508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79408" y="2871215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Road network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0" y="3639312"/>
            <a:ext cx="50292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979408" y="3529584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Railway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0" y="4297680"/>
            <a:ext cx="502920" cy="0"/>
          </a:xfrm>
          <a:prstGeom prst="line">
            <a:avLst/>
          </a:prstGeom>
          <a:ln w="5080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79408" y="4187952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City / population center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5" y="5001768"/>
            <a:ext cx="3100519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AFC2D4"/>
                </a:solidFill>
                <a:latin typeface="Aptos"/>
              </a:rPr>
              <a:t>Goal: explain why launch facilities occupy their specific geography.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maps — Folium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4E23E8-373E-3330-8BBD-24CBBC96DF8D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Folium results — coastal sites and controlled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1298448"/>
            <a:ext cx="3822191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3743978-F24A-587A-297B-AC7D1505C87B}"/>
              </a:ext>
            </a:extLst>
          </p:cNvPr>
          <p:cNvGrpSpPr/>
          <p:nvPr/>
        </p:nvGrpSpPr>
        <p:grpSpPr>
          <a:xfrm>
            <a:off x="8084457" y="1664208"/>
            <a:ext cx="2946400" cy="3567828"/>
            <a:chOff x="7982712" y="1664208"/>
            <a:chExt cx="3594571" cy="2467665"/>
          </a:xfrm>
        </p:grpSpPr>
        <p:sp>
          <p:nvSpPr>
            <p:cNvPr id="25" name="TextBox 24"/>
            <p:cNvSpPr txBox="1"/>
            <p:nvPr/>
          </p:nvSpPr>
          <p:spPr>
            <a:xfrm>
              <a:off x="7982712" y="1664208"/>
              <a:ext cx="3594571" cy="263961"/>
            </a:xfrm>
            <a:prstGeom prst="rect">
              <a:avLst/>
            </a:prstGeom>
            <a:noFill/>
          </p:spPr>
          <p:txBody>
            <a:bodyPr wrap="none" lIns="36576" tIns="36576" rIns="36576" bIns="36576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2000" b="1">
                  <a:solidFill>
                    <a:srgbClr val="22D3EE"/>
                  </a:solidFill>
                  <a:latin typeface="Aptos"/>
                </a:rPr>
                <a:t>Key geographic findings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7982712" y="2322576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183880" y="2241804"/>
              <a:ext cx="3044952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Railway: 0.12 km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7982712" y="2862072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183880" y="2781300"/>
              <a:ext cx="2743200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Highway: 0.61 km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7982712" y="3401568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183880" y="3320795"/>
              <a:ext cx="3083888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Coastline: 0.86 km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7982712" y="3941064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183880" y="3867912"/>
              <a:ext cx="2743200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City: 18.36 km</a:t>
              </a:r>
            </a:p>
          </p:txBody>
        </p:sp>
      </p:grpSp>
      <p:cxnSp>
        <p:nvCxnSpPr>
          <p:cNvPr id="36" name="Connector 35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Folium result summary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226CBE-A34F-0CEB-0304-45BB596752E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  <p:sp>
        <p:nvSpPr>
          <p:cNvPr id="42" name="Rounded Rectangle 23">
            <a:extLst>
              <a:ext uri="{FF2B5EF4-FFF2-40B4-BE49-F238E27FC236}">
                <a16:creationId xmlns:a16="http://schemas.microsoft.com/office/drawing/2014/main" id="{FE9D6863-9914-A691-BAB5-060A2ED642CF}"/>
              </a:ext>
            </a:extLst>
          </p:cNvPr>
          <p:cNvSpPr/>
          <p:nvPr/>
        </p:nvSpPr>
        <p:spPr>
          <a:xfrm>
            <a:off x="138787" y="1298447"/>
            <a:ext cx="6966102" cy="50200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74601FE1-FE9F-DF79-0F11-93B97D1B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91" y="1519064"/>
            <a:ext cx="5658866" cy="461313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Plotly Dash — turning analysis into an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82496"/>
            <a:ext cx="10972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INPUTS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139696"/>
            <a:ext cx="2487168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6" y="2176272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Launch-site dropdown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715768"/>
            <a:ext cx="2487168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6696" y="2752344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range slider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93008"/>
            <a:ext cx="1554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USER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248716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Select a site and constrain payload mass.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1" y="3557016"/>
            <a:ext cx="795529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36592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10912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CALLBACKS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2157984"/>
            <a:ext cx="2432304" cy="8586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Input values trigger filters on the shared </a:t>
            </a:r>
            <a:r>
              <a:rPr sz="1700" b="1" dirty="0" err="1">
                <a:solidFill>
                  <a:srgbClr val="F8FAFC"/>
                </a:solidFill>
                <a:latin typeface="Aptos"/>
              </a:rPr>
              <a:t>DataFrame</a:t>
            </a:r>
            <a:r>
              <a:rPr sz="1700" b="1" dirty="0">
                <a:solidFill>
                  <a:srgbClr val="F8FAFC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3310128"/>
            <a:ext cx="2432304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Output(..., “figure”) routes each result to the matching graph ID.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18704" y="3557016"/>
            <a:ext cx="786384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33104" y="1371600"/>
            <a:ext cx="268833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07424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2139696"/>
            <a:ext cx="2139696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2" y="2176272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Success pie chart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2715768"/>
            <a:ext cx="2139696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71432" y="2752344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scatter plot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657600"/>
            <a:ext cx="215188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Interactive evidence updates in real time.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dashboard — Plotly Dash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2159C3-FCC4-095A-BEA2-D249209406A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Dash results — site and payload filters work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61872"/>
            <a:ext cx="7178040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61a4b582-ddbe-4d3a-a6a1-f7ab1c8a0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2330"/>
            <a:ext cx="7178040" cy="39807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27848" y="1261872"/>
            <a:ext cx="3639312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09344"/>
            <a:ext cx="25146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Observed insights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2103120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2212848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41.7%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633472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share of all successes at KSC LC-39A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3328416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3438144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76.9%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858768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690872"/>
            <a:ext cx="2926080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AFC2D4"/>
                </a:solidFill>
                <a:latin typeface="Aptos"/>
              </a:rPr>
              <a:t>The payload slider removes out-of-range missions; the site dropdown updates both visuals through callbacks.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Plotly Dash result evidence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61B28E-3622-D090-8DFD-2CD0F838F48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Predictive analysis — fair model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82F6"/>
                </a:solidFill>
                <a:latin typeface="Aptos"/>
              </a:rP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80% train / 20% test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random_state = 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47288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48456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ptos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Fit scaling on X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reassign transformed 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61888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0216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GridSearchCV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10-fold CV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6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53144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54312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6B"/>
                </a:solidFill>
                <a:latin typeface="Aptos"/>
              </a:rPr>
              <a:t>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Holdout accuracy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confusion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493008"/>
            <a:ext cx="192024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Models evaluated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2959" y="4096512"/>
            <a:ext cx="310896" cy="310896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316736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penalty · solver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5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27647" y="4096512"/>
            <a:ext cx="310896" cy="310896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21423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Support Vector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3415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gamma · kernel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5029200"/>
            <a:ext cx="310896" cy="310896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16736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Decision Tree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depth · split ·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5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327647" y="5029200"/>
            <a:ext cx="310896" cy="310896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21423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K-Nearest Neighbors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5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neighbors · algorithm · 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methodology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537A70-5FCC-E334-09BA-535043B88ED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Model results — validation lead, test tie, clear error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4992624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Verified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12848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34640" y="2212848"/>
            <a:ext cx="1895276" cy="25603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2231136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587752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34640" y="2587752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44368" y="2606040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310128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SVM — sigmoid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3328416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34640" y="3328416"/>
            <a:ext cx="1899757" cy="256032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44368" y="3346704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84.8%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03320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834640" y="3703320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44368" y="3721608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654296"/>
            <a:ext cx="4279392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SVM has the strongest validation score; both verified models classify 15 of 18 test records correctly.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298448"/>
            <a:ext cx="5623560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81344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Confusion matrix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267712"/>
            <a:ext cx="960120" cy="914400"/>
          </a:xfrm>
          <a:prstGeom prst="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19" y="2267712"/>
            <a:ext cx="960120" cy="914400"/>
          </a:xfrm>
          <a:prstGeom prst="rect">
            <a:avLst/>
          </a:prstGeom>
          <a:solidFill>
            <a:srgbClr val="A74350"/>
          </a:solidFill>
          <a:ln>
            <a:solidFill>
              <a:srgbClr val="A74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19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319272"/>
            <a:ext cx="960120" cy="914400"/>
          </a:xfrm>
          <a:prstGeom prst="rect">
            <a:avLst/>
          </a:prstGeom>
          <a:solidFill>
            <a:srgbClr val="0B2338"/>
          </a:solidFill>
          <a:ln>
            <a:solidFill>
              <a:srgbClr val="0B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19" y="3319272"/>
            <a:ext cx="960120" cy="914400"/>
          </a:xfrm>
          <a:prstGeom prst="rect">
            <a:avLst/>
          </a:prstGeom>
          <a:solidFill>
            <a:srgbClr val="F4D8BF"/>
          </a:solidFill>
          <a:ln>
            <a:solidFill>
              <a:srgbClr val="F4D8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89519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4498848"/>
            <a:ext cx="11430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4656" y="4498848"/>
            <a:ext cx="11887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land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98464" y="258775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8464" y="363931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land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97696" y="226771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07424" y="237744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79806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positives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7696" y="350215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07424" y="361188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403250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negatives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7696" y="4846320"/>
            <a:ext cx="2057400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dirty="0">
                <a:solidFill>
                  <a:srgbClr val="AFC2D4"/>
                </a:solidFill>
                <a:latin typeface="Aptos"/>
              </a:rPr>
              <a:t>Main risk: predicting a landing when the stage actually fails.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results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5391A4-F757-608D-6468-1772A78278FB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Conclusions and innovative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5193792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the evidence supports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28600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2212848"/>
            <a:ext cx="4379976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KSC LC-39A leads both success volume and site success rate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852928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2779776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Launch outcomes improve across the flight sequence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419856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3346704"/>
            <a:ext cx="431596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SVM gives the best validation score; Logistic Regression matches its test accuracy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986783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33856" y="3913631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False positives deserve the most operational attention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1325880"/>
            <a:ext cx="5413248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Beyond the template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139696"/>
            <a:ext cx="438912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17627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304" y="212140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Aptos"/>
              </a:rPr>
              <a:t>COST-AWARE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450591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Penalize false positives more heavily than false negatives.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2512" y="3191256"/>
            <a:ext cx="438912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22783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304" y="317296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CALIBRATED PROBABILITY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3502151"/>
            <a:ext cx="3895344" cy="43891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Report landing probability—not only a binary class.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82512" y="4242816"/>
            <a:ext cx="438912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27939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4304" y="422452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C997"/>
                </a:solidFill>
                <a:latin typeface="Aptos"/>
              </a:rPr>
              <a:t>DRIFT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4553712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Retrain as new booster versions and mission profiles appear.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2512" y="5248656"/>
            <a:ext cx="4663440" cy="34747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5312664"/>
            <a:ext cx="4443984" cy="1828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8FAFC"/>
                </a:solidFill>
                <a:latin typeface="Aptos"/>
              </a:rPr>
              <a:t>Recommendation: deploy as decision support, not an autonomous go/no-go rule.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Conclusions and innovative insights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66B62-1916-111B-274E-BDDAD635DFA5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1744</Words>
  <Application>Microsoft Office PowerPoint</Application>
  <PresentationFormat>Widescreen</PresentationFormat>
  <Paragraphs>410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DITEC AUTO</dc:creator>
  <cp:keywords/>
  <dc:description/>
  <cp:lastModifiedBy>Armando Romero Mariscal R.</cp:lastModifiedBy>
  <cp:revision>8</cp:revision>
  <dcterms:created xsi:type="dcterms:W3CDTF">2026-08-19T11:13:21Z</dcterms:created>
  <dcterms:modified xsi:type="dcterms:W3CDTF">2026-08-20T16:14:49Z</dcterms:modified>
  <cp:category/>
</cp:coreProperties>
</file>